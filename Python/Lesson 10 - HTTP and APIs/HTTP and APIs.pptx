
<file path=[Content_Types].xml><?xml version="1.0" encoding="utf-8"?>
<Types xmlns="http://schemas.openxmlformats.org/package/2006/content-types">
  <Default Extension="emf" ContentType="image/x-emf"/>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285" r:id="rId3"/>
    <p:sldId id="1270" r:id="rId4"/>
    <p:sldId id="287" r:id="rId5"/>
    <p:sldId id="1271" r:id="rId6"/>
    <p:sldId id="286" r:id="rId7"/>
    <p:sldId id="1272" r:id="rId8"/>
    <p:sldId id="1275" r:id="rId9"/>
    <p:sldId id="1276" r:id="rId10"/>
    <p:sldId id="1278" r:id="rId11"/>
    <p:sldId id="1279" r:id="rId12"/>
    <p:sldId id="1273" r:id="rId13"/>
    <p:sldId id="1287" r:id="rId14"/>
    <p:sldId id="1288" r:id="rId15"/>
    <p:sldId id="1286" r:id="rId16"/>
    <p:sldId id="1274" r:id="rId17"/>
    <p:sldId id="1280" r:id="rId18"/>
    <p:sldId id="1281" r:id="rId19"/>
    <p:sldId id="1284" r:id="rId20"/>
    <p:sldId id="1282" r:id="rId21"/>
    <p:sldId id="1283" r:id="rId22"/>
    <p:sldId id="1285" r:id="rId23"/>
    <p:sldId id="284"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7389" autoAdjust="0"/>
  </p:normalViewPr>
  <p:slideViewPr>
    <p:cSldViewPr snapToGrid="0">
      <p:cViewPr varScale="1">
        <p:scale>
          <a:sx n="133" d="100"/>
          <a:sy n="133" d="100"/>
        </p:scale>
        <p:origin x="228" y="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23-Jun-26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a:t>
            </a:r>
          </a:p>
        </p:txBody>
      </p:sp>
      <p:sp>
        <p:nvSpPr>
          <p:cNvPr id="4" name="Slide Number Placeholder 3"/>
          <p:cNvSpPr>
            <a:spLocks noGrp="1"/>
          </p:cNvSpPr>
          <p:nvPr>
            <p:ph type="sldNum" sz="quarter" idx="5"/>
          </p:nvPr>
        </p:nvSpPr>
        <p:spPr/>
        <p:txBody>
          <a:bodyPr/>
          <a:lstStyle/>
          <a:p>
            <a:fld id="{BE457D5F-ED05-449E-97D0-205DAB987247}" type="slidenum">
              <a:rPr lang="en-US" smtClean="0"/>
              <a:t>2</a:t>
            </a:fld>
            <a:endParaRPr lang="en-US"/>
          </a:p>
        </p:txBody>
      </p:sp>
    </p:spTree>
    <p:extLst>
      <p:ext uri="{BB962C8B-B14F-4D97-AF65-F5344CB8AC3E}">
        <p14:creationId xmlns:p14="http://schemas.microsoft.com/office/powerpoint/2010/main" val="3837193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has four fundamental rules that govern how communication works. First, the client always initiates. Browsers start every conversation. Second, the server always responds. It must reply to every request, even if just to say 'error'. Third, it's one request, one response. Each HTTP exchange is complete in itself. Fourth, and most importantly, HTTP is stateless - the server doesn't remember previous requests. This is why cookies exist. Without them, you'd have to log in for every single page you visit. </a:t>
            </a:r>
          </a:p>
        </p:txBody>
      </p:sp>
      <p:sp>
        <p:nvSpPr>
          <p:cNvPr id="4" name="Footer Placeholder 3"/>
          <p:cNvSpPr>
            <a:spLocks noGrp="1"/>
          </p:cNvSpPr>
          <p:nvPr>
            <p:ph type="ftr" sz="quarter" idx="4"/>
          </p:nvPr>
        </p:nvSpPr>
        <p:spPr/>
        <p:txBody>
          <a:bodyPr/>
          <a:lstStyle/>
          <a:p>
            <a:pPr>
              <a:defRPr/>
            </a:pPr>
            <a:r>
              <a:rPr lang="en-US"/>
              <a:t>P&amp;NE AIAD Departure Brief</a:t>
            </a:r>
          </a:p>
        </p:txBody>
      </p:sp>
      <p:sp>
        <p:nvSpPr>
          <p:cNvPr id="5" name="Slide Number Placeholder 4"/>
          <p:cNvSpPr>
            <a:spLocks noGrp="1"/>
          </p:cNvSpPr>
          <p:nvPr>
            <p:ph type="sldNum" sz="quarter" idx="5"/>
          </p:nvPr>
        </p:nvSpPr>
        <p:spPr/>
        <p:txBody>
          <a:bodyPr/>
          <a:lstStyle/>
          <a:p>
            <a:pPr>
              <a:defRPr/>
            </a:pPr>
            <a:fld id="{7FE6B1A2-9BDA-4174-9639-C12B0222CFB2}" type="slidenum">
              <a:rPr lang="en-US" smtClean="0"/>
              <a:pPr>
                <a:defRPr/>
              </a:pPr>
              <a:t>3</a:t>
            </a:fld>
            <a:endParaRPr lang="en-US"/>
          </a:p>
        </p:txBody>
      </p:sp>
    </p:spTree>
    <p:extLst>
      <p:ext uri="{BB962C8B-B14F-4D97-AF65-F5344CB8AC3E}">
        <p14:creationId xmlns:p14="http://schemas.microsoft.com/office/powerpoint/2010/main" val="1183947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4</a:t>
            </a:fld>
            <a:endParaRPr lang="en-US"/>
          </a:p>
        </p:txBody>
      </p:sp>
    </p:spTree>
    <p:extLst>
      <p:ext uri="{BB962C8B-B14F-4D97-AF65-F5344CB8AC3E}">
        <p14:creationId xmlns:p14="http://schemas.microsoft.com/office/powerpoint/2010/main" val="1372614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https://www.rfc-editor.org/rfc/rfc1945#section-5</a:t>
            </a:r>
          </a:p>
        </p:txBody>
      </p:sp>
      <p:sp>
        <p:nvSpPr>
          <p:cNvPr id="4" name="Slide Number Placeholder 3"/>
          <p:cNvSpPr>
            <a:spLocks noGrp="1"/>
          </p:cNvSpPr>
          <p:nvPr>
            <p:ph type="sldNum" sz="quarter" idx="5"/>
          </p:nvPr>
        </p:nvSpPr>
        <p:spPr/>
        <p:txBody>
          <a:bodyPr/>
          <a:lstStyle/>
          <a:p>
            <a:fld id="{BE457D5F-ED05-449E-97D0-205DAB987247}" type="slidenum">
              <a:rPr lang="en-US" smtClean="0"/>
              <a:t>5</a:t>
            </a:fld>
            <a:endParaRPr lang="en-US"/>
          </a:p>
        </p:txBody>
      </p:sp>
    </p:spTree>
    <p:extLst>
      <p:ext uri="{BB962C8B-B14F-4D97-AF65-F5344CB8AC3E}">
        <p14:creationId xmlns:p14="http://schemas.microsoft.com/office/powerpoint/2010/main" val="1385179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an HTTP that returns HTML and one that returns a JSON response</a:t>
            </a:r>
          </a:p>
        </p:txBody>
      </p:sp>
      <p:sp>
        <p:nvSpPr>
          <p:cNvPr id="4" name="Slide Number Placeholder 3"/>
          <p:cNvSpPr>
            <a:spLocks noGrp="1"/>
          </p:cNvSpPr>
          <p:nvPr>
            <p:ph type="sldNum" sz="quarter" idx="5"/>
          </p:nvPr>
        </p:nvSpPr>
        <p:spPr/>
        <p:txBody>
          <a:bodyPr/>
          <a:lstStyle/>
          <a:p>
            <a:fld id="{BE457D5F-ED05-449E-97D0-205DAB987247}" type="slidenum">
              <a:rPr lang="en-US" smtClean="0"/>
              <a:t>6</a:t>
            </a:fld>
            <a:endParaRPr lang="en-US"/>
          </a:p>
        </p:txBody>
      </p:sp>
    </p:spTree>
    <p:extLst>
      <p:ext uri="{BB962C8B-B14F-4D97-AF65-F5344CB8AC3E}">
        <p14:creationId xmlns:p14="http://schemas.microsoft.com/office/powerpoint/2010/main" val="3942348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https://base64.dev/articles/what-is-base64</a:t>
            </a:r>
          </a:p>
        </p:txBody>
      </p:sp>
      <p:sp>
        <p:nvSpPr>
          <p:cNvPr id="4" name="Slide Number Placeholder 3"/>
          <p:cNvSpPr>
            <a:spLocks noGrp="1"/>
          </p:cNvSpPr>
          <p:nvPr>
            <p:ph type="sldNum" sz="quarter" idx="5"/>
          </p:nvPr>
        </p:nvSpPr>
        <p:spPr/>
        <p:txBody>
          <a:bodyPr/>
          <a:lstStyle/>
          <a:p>
            <a:fld id="{BE457D5F-ED05-449E-97D0-205DAB987247}" type="slidenum">
              <a:rPr lang="en-US" smtClean="0"/>
              <a:t>10</a:t>
            </a:fld>
            <a:endParaRPr lang="en-US"/>
          </a:p>
        </p:txBody>
      </p:sp>
    </p:spTree>
    <p:extLst>
      <p:ext uri="{BB962C8B-B14F-4D97-AF65-F5344CB8AC3E}">
        <p14:creationId xmlns:p14="http://schemas.microsoft.com/office/powerpoint/2010/main" val="2920093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base64.b64encode</a:t>
            </a:r>
          </a:p>
          <a:p>
            <a:r>
              <a:rPr lang="en-US" dirty="0"/>
              <a:t>base64.b64decode</a:t>
            </a:r>
          </a:p>
        </p:txBody>
      </p:sp>
      <p:sp>
        <p:nvSpPr>
          <p:cNvPr id="4" name="Slide Number Placeholder 3"/>
          <p:cNvSpPr>
            <a:spLocks noGrp="1"/>
          </p:cNvSpPr>
          <p:nvPr>
            <p:ph type="sldNum" sz="quarter" idx="5"/>
          </p:nvPr>
        </p:nvSpPr>
        <p:spPr/>
        <p:txBody>
          <a:bodyPr/>
          <a:lstStyle/>
          <a:p>
            <a:fld id="{BE457D5F-ED05-449E-97D0-205DAB987247}" type="slidenum">
              <a:rPr lang="en-US" smtClean="0"/>
              <a:t>11</a:t>
            </a:fld>
            <a:endParaRPr lang="en-US"/>
          </a:p>
        </p:txBody>
      </p:sp>
    </p:spTree>
    <p:extLst>
      <p:ext uri="{BB962C8B-B14F-4D97-AF65-F5344CB8AC3E}">
        <p14:creationId xmlns:p14="http://schemas.microsoft.com/office/powerpoint/2010/main" val="284329848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F02DE-DFC8-D451-2546-4F218A2A0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80FDF5-D189-423F-0586-8EDEC365E8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37CF05-2E6F-D07E-AEDC-74BAC8A8C9F8}"/>
              </a:ext>
            </a:extLst>
          </p:cNvPr>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a:extLst>
              <a:ext uri="{FF2B5EF4-FFF2-40B4-BE49-F238E27FC236}">
                <a16:creationId xmlns:a16="http://schemas.microsoft.com/office/drawing/2014/main" id="{9D9E26E9-E2D3-BF05-C6B9-D2B8990F6D7D}"/>
              </a:ext>
            </a:extLst>
          </p:cNvPr>
          <p:cNvSpPr>
            <a:spLocks noGrp="1"/>
          </p:cNvSpPr>
          <p:nvPr>
            <p:ph type="sldNum" sz="quarter" idx="5"/>
          </p:nvPr>
        </p:nvSpPr>
        <p:spPr/>
        <p:txBody>
          <a:bodyPr/>
          <a:lstStyle/>
          <a:p>
            <a:fld id="{BE457D5F-ED05-449E-97D0-205DAB987247}" type="slidenum">
              <a:rPr lang="en-US" smtClean="0"/>
              <a:t>13</a:t>
            </a:fld>
            <a:endParaRPr lang="en-US"/>
          </a:p>
        </p:txBody>
      </p:sp>
    </p:spTree>
    <p:extLst>
      <p:ext uri="{BB962C8B-B14F-4D97-AF65-F5344CB8AC3E}">
        <p14:creationId xmlns:p14="http://schemas.microsoft.com/office/powerpoint/2010/main" val="31501156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Stateless</a:t>
            </a:r>
          </a:p>
          <a:p>
            <a:pPr marL="171450" indent="-171450">
              <a:buFontTx/>
              <a:buChar char="-"/>
            </a:pPr>
            <a:r>
              <a:rPr lang="en-US" dirty="0"/>
              <a:t>User-specific</a:t>
            </a:r>
          </a:p>
          <a:p>
            <a:pPr marL="0" indent="0">
              <a:buFontTx/>
              <a:buNone/>
            </a:pPr>
            <a:endParaRPr lang="en-US" dirty="0"/>
          </a:p>
          <a:p>
            <a:pPr marL="0" indent="0">
              <a:buFontTx/>
              <a:buNone/>
            </a:pPr>
            <a:r>
              <a:rPr lang="en-US" dirty="0"/>
              <a:t>Cons;</a:t>
            </a:r>
          </a:p>
          <a:p>
            <a:pPr marL="171450" indent="-171450">
              <a:buFontTx/>
              <a:buChar char="-"/>
            </a:pPr>
            <a:r>
              <a:rPr lang="en-US" dirty="0"/>
              <a:t>Sending password repeatedly</a:t>
            </a:r>
          </a:p>
          <a:p>
            <a:pPr marL="171450" indent="-171450">
              <a:buFontTx/>
              <a:buChar char="-"/>
            </a:pPr>
            <a:r>
              <a:rPr lang="en-US" dirty="0"/>
              <a:t>Cannot auth 3rd parties</a:t>
            </a:r>
          </a:p>
        </p:txBody>
      </p:sp>
      <p:sp>
        <p:nvSpPr>
          <p:cNvPr id="4" name="Slide Number Placeholder 3"/>
          <p:cNvSpPr>
            <a:spLocks noGrp="1"/>
          </p:cNvSpPr>
          <p:nvPr>
            <p:ph type="sldNum" sz="quarter" idx="5"/>
          </p:nvPr>
        </p:nvSpPr>
        <p:spPr/>
        <p:txBody>
          <a:bodyPr/>
          <a:lstStyle/>
          <a:p>
            <a:fld id="{BE457D5F-ED05-449E-97D0-205DAB987247}" type="slidenum">
              <a:rPr lang="en-US" smtClean="0"/>
              <a:t>17</a:t>
            </a:fld>
            <a:endParaRPr lang="en-US"/>
          </a:p>
        </p:txBody>
      </p:sp>
    </p:spTree>
    <p:extLst>
      <p:ext uri="{BB962C8B-B14F-4D97-AF65-F5344CB8AC3E}">
        <p14:creationId xmlns:p14="http://schemas.microsoft.com/office/powerpoint/2010/main" val="1265215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Stateless</a:t>
            </a:r>
          </a:p>
          <a:p>
            <a:pPr marL="171450" indent="-171450">
              <a:buFontTx/>
              <a:buChar char="-"/>
            </a:pPr>
            <a:r>
              <a:rPr lang="en-US" dirty="0"/>
              <a:t>Can auth 3rd parties</a:t>
            </a:r>
          </a:p>
          <a:p>
            <a:pPr marL="0" indent="0">
              <a:buFontTx/>
              <a:buNone/>
            </a:pPr>
            <a:endParaRPr lang="en-US" dirty="0"/>
          </a:p>
          <a:p>
            <a:pPr marL="0" indent="0">
              <a:buFontTx/>
              <a:buNone/>
            </a:pPr>
            <a:r>
              <a:rPr lang="en-US" dirty="0"/>
              <a:t>Cons;</a:t>
            </a:r>
          </a:p>
          <a:p>
            <a:pPr marL="171450" indent="-171450">
              <a:buFontTx/>
              <a:buChar char="-"/>
            </a:pPr>
            <a:r>
              <a:rPr lang="en-US" dirty="0"/>
              <a:t>Hard to rotate keys</a:t>
            </a:r>
          </a:p>
          <a:p>
            <a:pPr marL="171450" indent="-171450">
              <a:buFontTx/>
              <a:buChar char="-"/>
            </a:pPr>
            <a:r>
              <a:rPr lang="en-US" dirty="0"/>
              <a:t>Generally not user-specific</a:t>
            </a:r>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18</a:t>
            </a:fld>
            <a:endParaRPr lang="en-US"/>
          </a:p>
        </p:txBody>
      </p:sp>
    </p:spTree>
    <p:extLst>
      <p:ext uri="{BB962C8B-B14F-4D97-AF65-F5344CB8AC3E}">
        <p14:creationId xmlns:p14="http://schemas.microsoft.com/office/powerpoint/2010/main" val="125307617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Simple</a:t>
            </a:r>
          </a:p>
          <a:p>
            <a:pPr marL="171450" indent="-171450">
              <a:buFontTx/>
              <a:buChar char="-"/>
            </a:pPr>
            <a:r>
              <a:rPr lang="en-US" dirty="0"/>
              <a:t>User-specific</a:t>
            </a:r>
          </a:p>
          <a:p>
            <a:pPr marL="0" indent="0">
              <a:buFontTx/>
              <a:buNone/>
            </a:pPr>
            <a:endParaRPr lang="en-US" dirty="0"/>
          </a:p>
          <a:p>
            <a:pPr marL="0" indent="0">
              <a:buFontTx/>
              <a:buNone/>
            </a:pPr>
            <a:r>
              <a:rPr lang="en-US" dirty="0"/>
              <a:t>Cons:</a:t>
            </a:r>
          </a:p>
          <a:p>
            <a:pPr marL="171450" indent="-171450">
              <a:buFontTx/>
              <a:buChar char="-"/>
            </a:pPr>
            <a:r>
              <a:rPr lang="en-US" dirty="0"/>
              <a:t>Stateful</a:t>
            </a:r>
          </a:p>
          <a:p>
            <a:pPr marL="171450" indent="-171450">
              <a:buFontTx/>
              <a:buChar char="-"/>
            </a:pPr>
            <a:r>
              <a:rPr lang="en-US" dirty="0"/>
              <a:t>Cannot auth 3rd parties</a:t>
            </a:r>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19</a:t>
            </a:fld>
            <a:endParaRPr lang="en-US"/>
          </a:p>
        </p:txBody>
      </p:sp>
    </p:spTree>
    <p:extLst>
      <p:ext uri="{BB962C8B-B14F-4D97-AF65-F5344CB8AC3E}">
        <p14:creationId xmlns:p14="http://schemas.microsoft.com/office/powerpoint/2010/main" val="383064055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Pros:</a:t>
            </a:r>
          </a:p>
          <a:p>
            <a:pPr marL="171450" indent="-171450">
              <a:buFontTx/>
              <a:buChar char="-"/>
            </a:pPr>
            <a:r>
              <a:rPr lang="en-US" dirty="0"/>
              <a:t>Limited scope / time</a:t>
            </a:r>
          </a:p>
          <a:p>
            <a:pPr marL="171450" indent="-171450">
              <a:buFontTx/>
              <a:buChar char="-"/>
            </a:pPr>
            <a:r>
              <a:rPr lang="en-US" dirty="0"/>
              <a:t>User-specific</a:t>
            </a:r>
          </a:p>
          <a:p>
            <a:pPr marL="171450" indent="-171450">
              <a:buFontTx/>
              <a:buChar char="-"/>
            </a:pPr>
            <a:r>
              <a:rPr lang="en-US" dirty="0"/>
              <a:t>Can auth 3rd parties</a:t>
            </a:r>
          </a:p>
          <a:p>
            <a:pPr marL="0" indent="0">
              <a:buFontTx/>
              <a:buNone/>
            </a:pPr>
            <a:endParaRPr lang="en-US" dirty="0"/>
          </a:p>
          <a:p>
            <a:pPr marL="0" indent="0">
              <a:buFontTx/>
              <a:buNone/>
            </a:pPr>
            <a:r>
              <a:rPr lang="en-US" dirty="0"/>
              <a:t>Cons:</a:t>
            </a:r>
          </a:p>
          <a:p>
            <a:pPr marL="171450" indent="-171450">
              <a:buFontTx/>
              <a:buChar char="-"/>
            </a:pPr>
            <a:r>
              <a:rPr lang="en-US" dirty="0"/>
              <a:t>Complexity</a:t>
            </a:r>
          </a:p>
          <a:p>
            <a:endParaRPr lang="en-US" dirty="0"/>
          </a:p>
          <a:p>
            <a:endParaRPr lang="en-US" dirty="0"/>
          </a:p>
          <a:p>
            <a:r>
              <a:rPr lang="en-US" dirty="0"/>
              <a:t>https://www.c-sharpcorner.com/article/a-net-developers-complete-guide-to-choose-right-authentication-from-basic-aut/</a:t>
            </a:r>
          </a:p>
        </p:txBody>
      </p:sp>
      <p:sp>
        <p:nvSpPr>
          <p:cNvPr id="4" name="Slide Number Placeholder 3"/>
          <p:cNvSpPr>
            <a:spLocks noGrp="1"/>
          </p:cNvSpPr>
          <p:nvPr>
            <p:ph type="sldNum" sz="quarter" idx="5"/>
          </p:nvPr>
        </p:nvSpPr>
        <p:spPr/>
        <p:txBody>
          <a:bodyPr/>
          <a:lstStyle/>
          <a:p>
            <a:fld id="{BE457D5F-ED05-449E-97D0-205DAB987247}" type="slidenum">
              <a:rPr lang="en-US" smtClean="0"/>
              <a:t>20</a:t>
            </a:fld>
            <a:endParaRPr lang="en-US"/>
          </a:p>
        </p:txBody>
      </p:sp>
    </p:spTree>
    <p:extLst>
      <p:ext uri="{BB962C8B-B14F-4D97-AF65-F5344CB8AC3E}">
        <p14:creationId xmlns:p14="http://schemas.microsoft.com/office/powerpoint/2010/main" val="16103832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https://medium.com/@reddyyashu20/beginners-guide-to-fastapi-openai-chatgpt-api-integration-50a0c3b8571e</a:t>
            </a:r>
          </a:p>
        </p:txBody>
      </p:sp>
      <p:sp>
        <p:nvSpPr>
          <p:cNvPr id="4" name="Slide Number Placeholder 3"/>
          <p:cNvSpPr>
            <a:spLocks noGrp="1"/>
          </p:cNvSpPr>
          <p:nvPr>
            <p:ph type="sldNum" sz="quarter" idx="5"/>
          </p:nvPr>
        </p:nvSpPr>
        <p:spPr/>
        <p:txBody>
          <a:bodyPr/>
          <a:lstStyle/>
          <a:p>
            <a:fld id="{BE457D5F-ED05-449E-97D0-205DAB987247}" type="slidenum">
              <a:rPr lang="en-US" smtClean="0"/>
              <a:t>21</a:t>
            </a:fld>
            <a:endParaRPr lang="en-US"/>
          </a:p>
        </p:txBody>
      </p:sp>
    </p:spTree>
    <p:extLst>
      <p:ext uri="{BB962C8B-B14F-4D97-AF65-F5344CB8AC3E}">
        <p14:creationId xmlns:p14="http://schemas.microsoft.com/office/powerpoint/2010/main" val="423313648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23 June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userDrawn="1"/>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userDrawn="1"/>
        </p:nvPicPr>
        <p:blipFill>
          <a:blip r:embed="rId3"/>
          <a:srcRect/>
          <a:stretch/>
        </p:blipFill>
        <p:spPr>
          <a:xfrm>
            <a:off x="10004616" y="411163"/>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0222106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23 June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userDrawn="1"/>
        </p:nvPicPr>
        <p:blipFill>
          <a:blip r:embed="rId2"/>
          <a:stretch>
            <a:fillRect/>
          </a:stretch>
        </p:blipFill>
        <p:spPr bwMode="black">
          <a:xfrm>
            <a:off x="180891" y="104975"/>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1"/>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9"/>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3"/>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5"/>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7"/>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1" y="5133531"/>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1" y="4952739"/>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1" y="5314323"/>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1" y="5495115"/>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1" y="5675907"/>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userDrawn="1"/>
        </p:nvGrpSpPr>
        <p:grpSpPr>
          <a:xfrm>
            <a:off x="548219" y="1974220"/>
            <a:ext cx="7173383"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39997980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23 June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userDrawn="1"/>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userDrawn="1"/>
        </p:nvPicPr>
        <p:blipFill>
          <a:blip r:embed="rId4"/>
          <a:srcRect/>
          <a:stretch/>
        </p:blipFill>
        <p:spPr>
          <a:xfrm>
            <a:off x="10004616" y="411163"/>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48010295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9"/>
            <a:ext cx="11024925" cy="4572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622D1A-DF83-41A8-85FF-04D90BF831D3}" type="datetime3">
              <a:rPr lang="en-US" smtClean="0"/>
              <a:t>23 June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1" cy="22860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259051476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23 June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0970370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23 June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19752217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23 June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7003923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9"/>
          </a:xfrm>
          <a:prstGeom prst="rect">
            <a:avLst/>
          </a:prstGeo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a:prstGeom prst="rect">
            <a:avLst/>
          </a:prstGeo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a:prstGeom prst="rect">
            <a:avLst/>
          </a:prstGeo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a:prstGeom prst="rect">
            <a:avLst/>
          </a:prstGeo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23 June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51620728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23 June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718187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23 June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7051908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23 June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8049893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23 June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3786372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23 June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411673360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23 June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192891400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23 June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46864731"/>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23 June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429125097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23 June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88822484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41"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6"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6"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6"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23 June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048599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23 June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baseline="0" dirty="0">
                <a:solidFill>
                  <a:srgbClr val="2DAA27"/>
                </a:solidFill>
                <a:latin typeface="+mn-lt"/>
                <a:cs typeface="Arial Bold" panose="020B0704020202020204" pitchFamily="34" charset="0"/>
              </a:rPr>
              <a:t>UNCLASSIFIED/GENERAL</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3113111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prstGeom prst="rect">
            <a:avLst/>
          </a:prstGeom>
          <a:solidFill>
            <a:srgbClr val="565557"/>
          </a:solidFill>
        </p:spPr>
        <p:txBody>
          <a:bodyPr anchor="ctr" anchorCtr="0"/>
          <a:lstStyle>
            <a:lvl1pPr marL="0" indent="0" algn="ctr">
              <a:buFontTx/>
              <a:buNone/>
              <a:defRPr sz="100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23 June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075879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23 June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130981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a:prstGeom prst="rect">
            <a:avLst/>
          </a:prstGeom>
        </p:spPr>
        <p:txBody>
          <a:bodyPr/>
          <a:lstStyle>
            <a:lvl1pPr marL="0" indent="0">
              <a:lnSpc>
                <a:spcPct val="90000"/>
              </a:lnSpc>
              <a:spcBef>
                <a:spcPts val="0"/>
              </a:spcBef>
              <a:buFontTx/>
              <a:buNone/>
              <a:defRPr sz="36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23 June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5446203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23 June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3604082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23 June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3835973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23 June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5967944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23 June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415548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23 June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800782998"/>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23 June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06150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userDrawn="1"/>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9" y="4819415"/>
            <a:ext cx="5365749" cy="1371599"/>
          </a:xfrm>
          <a:prstGeom prst="rect">
            <a:avLst/>
          </a:prstGeo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23 June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728499661"/>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userDrawn="1"/>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1258681489"/>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1800"/>
              <a:buNone/>
              <a:defRPr sz="2400"/>
            </a:lvl1pPr>
            <a:lvl2pPr lvl="1" algn="ctr">
              <a:lnSpc>
                <a:spcPct val="90000"/>
              </a:lnSpc>
              <a:spcBef>
                <a:spcPts val="500"/>
              </a:spcBef>
              <a:spcAft>
                <a:spcPts val="0"/>
              </a:spcAft>
              <a:buClr>
                <a:schemeClr val="dk1"/>
              </a:buClr>
              <a:buSzPts val="15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200"/>
              <a:buNone/>
              <a:defRPr sz="1600"/>
            </a:lvl5pPr>
            <a:lvl6pPr lvl="5" algn="ctr">
              <a:lnSpc>
                <a:spcPct val="90000"/>
              </a:lnSpc>
              <a:spcBef>
                <a:spcPts val="500"/>
              </a:spcBef>
              <a:spcAft>
                <a:spcPts val="0"/>
              </a:spcAft>
              <a:buClr>
                <a:schemeClr val="dk1"/>
              </a:buClr>
              <a:buSzPts val="1200"/>
              <a:buNone/>
              <a:defRPr sz="1600"/>
            </a:lvl6pPr>
            <a:lvl7pPr lvl="6" algn="ctr">
              <a:lnSpc>
                <a:spcPct val="90000"/>
              </a:lnSpc>
              <a:spcBef>
                <a:spcPts val="500"/>
              </a:spcBef>
              <a:spcAft>
                <a:spcPts val="0"/>
              </a:spcAft>
              <a:buClr>
                <a:schemeClr val="dk1"/>
              </a:buClr>
              <a:buSzPts val="1200"/>
              <a:buNone/>
              <a:defRPr sz="1600"/>
            </a:lvl7pPr>
            <a:lvl8pPr lvl="7" algn="ctr">
              <a:lnSpc>
                <a:spcPct val="90000"/>
              </a:lnSpc>
              <a:spcBef>
                <a:spcPts val="500"/>
              </a:spcBef>
              <a:spcAft>
                <a:spcPts val="0"/>
              </a:spcAft>
              <a:buClr>
                <a:schemeClr val="dk1"/>
              </a:buClr>
              <a:buSzPts val="1200"/>
              <a:buNone/>
              <a:defRPr sz="1600"/>
            </a:lvl8pPr>
            <a:lvl9pPr lvl="8" algn="ctr">
              <a:lnSpc>
                <a:spcPct val="90000"/>
              </a:lnSpc>
              <a:spcBef>
                <a:spcPts val="500"/>
              </a:spcBef>
              <a:spcAft>
                <a:spcPts val="0"/>
              </a:spcAft>
              <a:buClr>
                <a:schemeClr val="dk1"/>
              </a:buClr>
              <a:buSzPts val="1200"/>
              <a:buNone/>
              <a:defRPr sz="1600"/>
            </a:lvl9pPr>
          </a:lstStyle>
          <a:p>
            <a:endParaRPr/>
          </a:p>
        </p:txBody>
      </p:sp>
      <p:sp>
        <p:nvSpPr>
          <p:cNvPr id="59" name="Google Shape;59;p1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10421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reserve="1">
  <p:cSld name="1_Title Onl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72168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415633" y="667900"/>
            <a:ext cx="11360800" cy="831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4156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0" name="Google Shape;70;p16"/>
          <p:cNvSpPr txBox="1">
            <a:spLocks noGrp="1"/>
          </p:cNvSpPr>
          <p:nvPr>
            <p:ph type="body" idx="2"/>
          </p:nvPr>
        </p:nvSpPr>
        <p:spPr>
          <a:xfrm>
            <a:off x="64432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1" name="Google Shape;71;p1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1pPr>
            <a:lvl2pPr marL="0" marR="0" lvl="1"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2pPr>
            <a:lvl3pPr marL="0" marR="0" lvl="2"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3pPr>
            <a:lvl4pPr marL="0" marR="0" lvl="3"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4pPr>
            <a:lvl5pPr marL="0" marR="0" lvl="4"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5pPr>
            <a:lvl6pPr marL="0" marR="0" lvl="5"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6pPr>
            <a:lvl7pPr marL="0" marR="0" lvl="6"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7pPr>
            <a:lvl8pPr marL="0" marR="0" lvl="7"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8pPr>
            <a:lvl9pPr marL="0" marR="0" lvl="8"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592436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23-Jun-26</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7021421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23-Jun-26</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533074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23-Jun-26</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36441275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userDrawn="1"/>
        </p:nvPicPr>
        <p:blipFill>
          <a:blip r:embed="rId38"/>
          <a:srcRect l="26274" t="67"/>
          <a:stretch>
            <a:fillRect/>
          </a:stretch>
        </p:blipFill>
        <p:spPr>
          <a:xfrm>
            <a:off x="10428515"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9"/>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CABCB1B0-B6E5-4DD1-BB55-95C076D6C0C8}" type="datetime3">
              <a:rPr lang="en-US" smtClean="0"/>
              <a:t>23 June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7"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64E5BE4B-2FBF-4174-9E62-85FAD1CB43A6}" type="slidenum">
              <a:rPr lang="en-US" smtClean="0"/>
              <a:pPr/>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userDrawn="1"/>
        </p:nvPicPr>
        <p:blipFill>
          <a:blip r:embed="rId39"/>
          <a:stretch>
            <a:fillRect/>
          </a:stretch>
        </p:blipFill>
        <p:spPr>
          <a:xfrm>
            <a:off x="9926021" y="424087"/>
            <a:ext cx="502495" cy="477704"/>
          </a:xfrm>
          <a:prstGeom prst="rect">
            <a:avLst/>
          </a:prstGeom>
        </p:spPr>
      </p:pic>
    </p:spTree>
    <p:extLst>
      <p:ext uri="{BB962C8B-B14F-4D97-AF65-F5344CB8AC3E}">
        <p14:creationId xmlns:p14="http://schemas.microsoft.com/office/powerpoint/2010/main" val="18082275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Lst>
  <p:hf hdr="0"/>
  <p:txStyles>
    <p:titleStyle>
      <a:lvl1pPr algn="l" defTabSz="914377"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000"/>
        </a:spcBef>
        <a:buFont typeface="Arial" panose="020B0604020202020204" pitchFamily="34" charset="0"/>
        <a:buChar char="▪"/>
        <a:defRPr sz="2400" kern="1200">
          <a:solidFill>
            <a:schemeClr val="tx1"/>
          </a:solidFill>
          <a:latin typeface="+mn-lt"/>
          <a:ea typeface="+mn-ea"/>
          <a:cs typeface="+mn-cs"/>
        </a:defRPr>
      </a:lvl1pPr>
      <a:lvl2pPr marL="365751" indent="-182875" algn="l" defTabSz="914377" rtl="0" eaLnBrk="1" latinLnBrk="0" hangingPunct="1">
        <a:lnSpc>
          <a:spcPct val="95000"/>
        </a:lnSpc>
        <a:spcBef>
          <a:spcPts val="500"/>
        </a:spcBef>
        <a:buFont typeface="Arial" panose="020B0604020202020204" pitchFamily="34" charset="0"/>
        <a:buChar char="–"/>
        <a:defRPr sz="2133" kern="1200">
          <a:solidFill>
            <a:schemeClr val="tx1"/>
          </a:solidFill>
          <a:latin typeface="+mn-lt"/>
          <a:ea typeface="+mn-ea"/>
          <a:cs typeface="+mn-cs"/>
        </a:defRPr>
      </a:lvl2pPr>
      <a:lvl3pPr marL="548626" indent="-182875" algn="l" defTabSz="914377" rtl="0" eaLnBrk="1" latinLnBrk="0" hangingPunct="1">
        <a:lnSpc>
          <a:spcPct val="95000"/>
        </a:lnSpc>
        <a:spcBef>
          <a:spcPts val="500"/>
        </a:spcBef>
        <a:buFont typeface="Arial" panose="020B0604020202020204" pitchFamily="34" charset="0"/>
        <a:buChar char="–"/>
        <a:defRPr sz="1867" kern="1200">
          <a:solidFill>
            <a:schemeClr val="tx1"/>
          </a:solidFill>
          <a:latin typeface="+mn-lt"/>
          <a:ea typeface="+mn-ea"/>
          <a:cs typeface="+mn-cs"/>
        </a:defRPr>
      </a:lvl3pPr>
      <a:lvl4pPr marL="731502"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377"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5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28"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0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879"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377" rtl="0" eaLnBrk="1" latinLnBrk="0" hangingPunct="1">
        <a:defRPr sz="1700" kern="1200">
          <a:solidFill>
            <a:schemeClr val="tx1"/>
          </a:solidFill>
          <a:latin typeface="+mn-lt"/>
          <a:ea typeface="+mn-ea"/>
          <a:cs typeface="+mn-cs"/>
        </a:defRPr>
      </a:lvl1pPr>
      <a:lvl2pPr marL="457189" algn="l" defTabSz="914377" rtl="0" eaLnBrk="1" latinLnBrk="0" hangingPunct="1">
        <a:defRPr sz="1700" kern="1200">
          <a:solidFill>
            <a:schemeClr val="tx1"/>
          </a:solidFill>
          <a:latin typeface="+mn-lt"/>
          <a:ea typeface="+mn-ea"/>
          <a:cs typeface="+mn-cs"/>
        </a:defRPr>
      </a:lvl2pPr>
      <a:lvl3pPr marL="914377" algn="l" defTabSz="914377" rtl="0" eaLnBrk="1" latinLnBrk="0" hangingPunct="1">
        <a:defRPr sz="1700" kern="1200">
          <a:solidFill>
            <a:schemeClr val="tx1"/>
          </a:solidFill>
          <a:latin typeface="+mn-lt"/>
          <a:ea typeface="+mn-ea"/>
          <a:cs typeface="+mn-cs"/>
        </a:defRPr>
      </a:lvl3pPr>
      <a:lvl4pPr marL="1371566" algn="l" defTabSz="914377" rtl="0" eaLnBrk="1" latinLnBrk="0" hangingPunct="1">
        <a:defRPr sz="1700" kern="1200">
          <a:solidFill>
            <a:schemeClr val="tx1"/>
          </a:solidFill>
          <a:latin typeface="+mn-lt"/>
          <a:ea typeface="+mn-ea"/>
          <a:cs typeface="+mn-cs"/>
        </a:defRPr>
      </a:lvl4pPr>
      <a:lvl5pPr marL="1828754" algn="l" defTabSz="914377" rtl="0" eaLnBrk="1" latinLnBrk="0" hangingPunct="1">
        <a:defRPr sz="1700" kern="1200">
          <a:solidFill>
            <a:schemeClr val="tx1"/>
          </a:solidFill>
          <a:latin typeface="+mn-lt"/>
          <a:ea typeface="+mn-ea"/>
          <a:cs typeface="+mn-cs"/>
        </a:defRPr>
      </a:lvl5pPr>
      <a:lvl6pPr marL="2285943" algn="l" defTabSz="914377" rtl="0" eaLnBrk="1" latinLnBrk="0" hangingPunct="1">
        <a:defRPr sz="1700" kern="1200">
          <a:solidFill>
            <a:schemeClr val="tx1"/>
          </a:solidFill>
          <a:latin typeface="+mn-lt"/>
          <a:ea typeface="+mn-ea"/>
          <a:cs typeface="+mn-cs"/>
        </a:defRPr>
      </a:lvl6pPr>
      <a:lvl7pPr marL="2743131" algn="l" defTabSz="914377" rtl="0" eaLnBrk="1" latinLnBrk="0" hangingPunct="1">
        <a:defRPr sz="1700" kern="1200">
          <a:solidFill>
            <a:schemeClr val="tx1"/>
          </a:solidFill>
          <a:latin typeface="+mn-lt"/>
          <a:ea typeface="+mn-ea"/>
          <a:cs typeface="+mn-cs"/>
        </a:defRPr>
      </a:lvl7pPr>
      <a:lvl8pPr marL="3200320" algn="l" defTabSz="914377" rtl="0" eaLnBrk="1" latinLnBrk="0" hangingPunct="1">
        <a:defRPr sz="1700" kern="1200">
          <a:solidFill>
            <a:schemeClr val="tx1"/>
          </a:solidFill>
          <a:latin typeface="+mn-lt"/>
          <a:ea typeface="+mn-ea"/>
          <a:cs typeface="+mn-cs"/>
        </a:defRPr>
      </a:lvl8pPr>
      <a:lvl9pPr marL="3657509" algn="l" defTabSz="914377"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docs.python-requests.org/en/latest/user/quickstart/#make-a-request"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hyperlink" Target="https://api.github.com/repos/%7bowner%7d/%7brepo%7d/commits" TargetMode="Externa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5F5500D-28B8-98A1-9FED-BA7F0BF0D5C4}"/>
              </a:ext>
            </a:extLst>
          </p:cNvPr>
          <p:cNvSpPr>
            <a:spLocks noGrp="1"/>
          </p:cNvSpPr>
          <p:nvPr>
            <p:ph type="body" sz="quarter" idx="39"/>
          </p:nvPr>
        </p:nvSpPr>
        <p:spPr/>
        <p:txBody>
          <a:bodyPr/>
          <a:lstStyle/>
          <a:p>
            <a:endParaRPr lang="en-US"/>
          </a:p>
        </p:txBody>
      </p:sp>
      <p:sp>
        <p:nvSpPr>
          <p:cNvPr id="19" name="Text Placeholder 18">
            <a:extLst>
              <a:ext uri="{FF2B5EF4-FFF2-40B4-BE49-F238E27FC236}">
                <a16:creationId xmlns:a16="http://schemas.microsoft.com/office/drawing/2014/main" id="{936C4D34-CD8C-75DC-2CBA-33E832AD85C3}"/>
              </a:ext>
            </a:extLst>
          </p:cNvPr>
          <p:cNvSpPr>
            <a:spLocks noGrp="1"/>
          </p:cNvSpPr>
          <p:nvPr>
            <p:ph type="body" sz="quarter" idx="40"/>
          </p:nvPr>
        </p:nvSpPr>
        <p:spPr/>
        <p:txBody>
          <a:bodyPr/>
          <a:lstStyle/>
          <a:p>
            <a:endParaRPr lang="en-US"/>
          </a:p>
        </p:txBody>
      </p:sp>
      <p:sp>
        <p:nvSpPr>
          <p:cNvPr id="20" name="Text Placeholder 19">
            <a:extLst>
              <a:ext uri="{FF2B5EF4-FFF2-40B4-BE49-F238E27FC236}">
                <a16:creationId xmlns:a16="http://schemas.microsoft.com/office/drawing/2014/main" id="{E2AAC86D-9609-47C1-E663-FD838EC7210C}"/>
              </a:ext>
            </a:extLst>
          </p:cNvPr>
          <p:cNvSpPr>
            <a:spLocks noGrp="1"/>
          </p:cNvSpPr>
          <p:nvPr>
            <p:ph type="body" sz="quarter" idx="41"/>
          </p:nvPr>
        </p:nvSpPr>
        <p:spPr/>
        <p:txBody>
          <a:bodyPr/>
          <a:lstStyle/>
          <a:p>
            <a:endParaRPr lang="en-US"/>
          </a:p>
        </p:txBody>
      </p:sp>
      <p:sp>
        <p:nvSpPr>
          <p:cNvPr id="21" name="Text Placeholder 20">
            <a:extLst>
              <a:ext uri="{FF2B5EF4-FFF2-40B4-BE49-F238E27FC236}">
                <a16:creationId xmlns:a16="http://schemas.microsoft.com/office/drawing/2014/main" id="{F2A125FC-6ED4-CDE1-B776-A12BC62A8157}"/>
              </a:ext>
            </a:extLst>
          </p:cNvPr>
          <p:cNvSpPr>
            <a:spLocks noGrp="1"/>
          </p:cNvSpPr>
          <p:nvPr>
            <p:ph type="body" sz="quarter" idx="42"/>
          </p:nvPr>
        </p:nvSpPr>
        <p:spPr/>
        <p:txBody>
          <a:bodyPr/>
          <a:lstStyle/>
          <a:p>
            <a:endParaRPr lang="en-US"/>
          </a:p>
        </p:txBody>
      </p:sp>
      <p:sp>
        <p:nvSpPr>
          <p:cNvPr id="22" name="Text Placeholder 21">
            <a:extLst>
              <a:ext uri="{FF2B5EF4-FFF2-40B4-BE49-F238E27FC236}">
                <a16:creationId xmlns:a16="http://schemas.microsoft.com/office/drawing/2014/main" id="{B226ACE9-22F2-431A-34BB-DB6AB5EDCAEC}"/>
              </a:ext>
            </a:extLst>
          </p:cNvPr>
          <p:cNvSpPr>
            <a:spLocks noGrp="1"/>
          </p:cNvSpPr>
          <p:nvPr>
            <p:ph type="body" sz="quarter" idx="43"/>
          </p:nvPr>
        </p:nvSpPr>
        <p:spPr/>
        <p:txBody>
          <a:bodyPr/>
          <a:lstStyle/>
          <a:p>
            <a:endParaRPr lang="en-US"/>
          </a:p>
        </p:txBody>
      </p:sp>
      <p:sp>
        <p:nvSpPr>
          <p:cNvPr id="23" name="Text Placeholder 22">
            <a:extLst>
              <a:ext uri="{FF2B5EF4-FFF2-40B4-BE49-F238E27FC236}">
                <a16:creationId xmlns:a16="http://schemas.microsoft.com/office/drawing/2014/main" id="{ED1E44F9-3FA8-78D7-C7D8-6CE1576D5406}"/>
              </a:ext>
            </a:extLst>
          </p:cNvPr>
          <p:cNvSpPr>
            <a:spLocks noGrp="1"/>
          </p:cNvSpPr>
          <p:nvPr>
            <p:ph type="body" sz="quarter" idx="44"/>
          </p:nvPr>
        </p:nvSpPr>
        <p:spPr/>
        <p:txBody>
          <a:bodyPr/>
          <a:lstStyle/>
          <a:p>
            <a:endParaRPr lang="en-US"/>
          </a:p>
        </p:txBody>
      </p:sp>
      <p:sp>
        <p:nvSpPr>
          <p:cNvPr id="24" name="Text Placeholder 23">
            <a:extLst>
              <a:ext uri="{FF2B5EF4-FFF2-40B4-BE49-F238E27FC236}">
                <a16:creationId xmlns:a16="http://schemas.microsoft.com/office/drawing/2014/main" id="{8D5CF151-77B1-3CA0-4D12-98B22EB40794}"/>
              </a:ext>
            </a:extLst>
          </p:cNvPr>
          <p:cNvSpPr>
            <a:spLocks noGrp="1"/>
          </p:cNvSpPr>
          <p:nvPr>
            <p:ph type="body" sz="quarter" idx="45"/>
          </p:nvPr>
        </p:nvSpPr>
        <p:spPr/>
        <p:txBody>
          <a:bodyPr/>
          <a:lstStyle/>
          <a:p>
            <a:endParaRPr lang="en-US"/>
          </a:p>
        </p:txBody>
      </p:sp>
      <p:sp>
        <p:nvSpPr>
          <p:cNvPr id="25" name="Text Placeholder 24">
            <a:extLst>
              <a:ext uri="{FF2B5EF4-FFF2-40B4-BE49-F238E27FC236}">
                <a16:creationId xmlns:a16="http://schemas.microsoft.com/office/drawing/2014/main" id="{0743D0EB-7A13-782C-85D4-F6C964AC1F72}"/>
              </a:ext>
            </a:extLst>
          </p:cNvPr>
          <p:cNvSpPr>
            <a:spLocks noGrp="1"/>
          </p:cNvSpPr>
          <p:nvPr>
            <p:ph type="body" sz="quarter" idx="46"/>
          </p:nvPr>
        </p:nvSpPr>
        <p:spPr/>
        <p:txBody>
          <a:bodyPr/>
          <a:lstStyle/>
          <a:p>
            <a:endParaRPr lang="en-US"/>
          </a:p>
        </p:txBody>
      </p:sp>
      <p:sp>
        <p:nvSpPr>
          <p:cNvPr id="26" name="Text Placeholder 25">
            <a:extLst>
              <a:ext uri="{FF2B5EF4-FFF2-40B4-BE49-F238E27FC236}">
                <a16:creationId xmlns:a16="http://schemas.microsoft.com/office/drawing/2014/main" id="{7AF48BE3-7874-1456-5CF8-B69DBF29CA5A}"/>
              </a:ext>
            </a:extLst>
          </p:cNvPr>
          <p:cNvSpPr>
            <a:spLocks noGrp="1"/>
          </p:cNvSpPr>
          <p:nvPr>
            <p:ph type="body" sz="quarter" idx="47"/>
          </p:nvPr>
        </p:nvSpPr>
        <p:spPr/>
        <p:txBody>
          <a:bodyPr/>
          <a:lstStyle/>
          <a:p>
            <a:endParaRPr lang="en-US"/>
          </a:p>
        </p:txBody>
      </p:sp>
      <p:sp>
        <p:nvSpPr>
          <p:cNvPr id="27" name="Text Placeholder 26">
            <a:extLst>
              <a:ext uri="{FF2B5EF4-FFF2-40B4-BE49-F238E27FC236}">
                <a16:creationId xmlns:a16="http://schemas.microsoft.com/office/drawing/2014/main" id="{C00515FB-3BF3-47C8-7B16-8144A9949831}"/>
              </a:ext>
            </a:extLst>
          </p:cNvPr>
          <p:cNvSpPr>
            <a:spLocks noGrp="1"/>
          </p:cNvSpPr>
          <p:nvPr>
            <p:ph type="body" sz="quarter" idx="48"/>
          </p:nvPr>
        </p:nvSpPr>
        <p:spPr/>
        <p:txBody>
          <a:bodyPr/>
          <a:lstStyle/>
          <a:p>
            <a:endParaRPr lang="en-US"/>
          </a:p>
        </p:txBody>
      </p:sp>
      <p:sp>
        <p:nvSpPr>
          <p:cNvPr id="2" name="Title 1">
            <a:extLst>
              <a:ext uri="{FF2B5EF4-FFF2-40B4-BE49-F238E27FC236}">
                <a16:creationId xmlns:a16="http://schemas.microsoft.com/office/drawing/2014/main" id="{13F81ACD-6120-D6F0-670E-BB0ECB337F17}"/>
              </a:ext>
            </a:extLst>
          </p:cNvPr>
          <p:cNvSpPr>
            <a:spLocks noGrp="1"/>
          </p:cNvSpPr>
          <p:nvPr>
            <p:ph type="ctrTitle"/>
          </p:nvPr>
        </p:nvSpPr>
        <p:spPr>
          <a:xfrm>
            <a:off x="914401" y="2202820"/>
            <a:ext cx="6429375" cy="1325880"/>
          </a:xfrm>
        </p:spPr>
        <p:txBody>
          <a:bodyPr/>
          <a:lstStyle/>
          <a:p>
            <a:r>
              <a:rPr lang="en-US" dirty="0"/>
              <a:t>HTTP and APIs</a:t>
            </a:r>
          </a:p>
        </p:txBody>
      </p:sp>
      <p:sp>
        <p:nvSpPr>
          <p:cNvPr id="3" name="Subtitle 2">
            <a:extLst>
              <a:ext uri="{FF2B5EF4-FFF2-40B4-BE49-F238E27FC236}">
                <a16:creationId xmlns:a16="http://schemas.microsoft.com/office/drawing/2014/main" id="{BA03A6A7-B911-5528-D8B0-F857E7157562}"/>
              </a:ext>
            </a:extLst>
          </p:cNvPr>
          <p:cNvSpPr>
            <a:spLocks noGrp="1"/>
          </p:cNvSpPr>
          <p:nvPr>
            <p:ph type="subTitle" idx="1"/>
          </p:nvPr>
        </p:nvSpPr>
        <p:spPr>
          <a:xfrm>
            <a:off x="914402" y="3784732"/>
            <a:ext cx="3565524" cy="457200"/>
          </a:xfrm>
        </p:spPr>
        <p:txBody>
          <a:bodyPr/>
          <a:lstStyle/>
          <a:p>
            <a:r>
              <a:rPr lang="en-US" dirty="0"/>
              <a:t>AI2C Techs</a:t>
            </a:r>
          </a:p>
        </p:txBody>
      </p:sp>
      <p:sp>
        <p:nvSpPr>
          <p:cNvPr id="17" name="Text Placeholder 16">
            <a:extLst>
              <a:ext uri="{FF2B5EF4-FFF2-40B4-BE49-F238E27FC236}">
                <a16:creationId xmlns:a16="http://schemas.microsoft.com/office/drawing/2014/main" id="{B9C74AF3-C000-6F58-2776-39AB768B00A6}"/>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05122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E610B-6F88-D983-B674-135072AE0D00}"/>
              </a:ext>
            </a:extLst>
          </p:cNvPr>
          <p:cNvSpPr>
            <a:spLocks noGrp="1"/>
          </p:cNvSpPr>
          <p:nvPr>
            <p:ph type="title"/>
          </p:nvPr>
        </p:nvSpPr>
        <p:spPr/>
        <p:txBody>
          <a:bodyPr/>
          <a:lstStyle/>
          <a:p>
            <a:r>
              <a:rPr lang="en-US" dirty="0" err="1"/>
              <a:t>HyperText</a:t>
            </a:r>
            <a:r>
              <a:rPr lang="en-US" dirty="0"/>
              <a:t> Transfer Protocol</a:t>
            </a:r>
          </a:p>
        </p:txBody>
      </p:sp>
      <p:sp>
        <p:nvSpPr>
          <p:cNvPr id="4" name="Content Placeholder 3">
            <a:extLst>
              <a:ext uri="{FF2B5EF4-FFF2-40B4-BE49-F238E27FC236}">
                <a16:creationId xmlns:a16="http://schemas.microsoft.com/office/drawing/2014/main" id="{86702865-14F7-75BA-971C-7F030292EED0}"/>
              </a:ext>
            </a:extLst>
          </p:cNvPr>
          <p:cNvSpPr>
            <a:spLocks noGrp="1"/>
          </p:cNvSpPr>
          <p:nvPr>
            <p:ph idx="1"/>
          </p:nvPr>
        </p:nvSpPr>
        <p:spPr/>
        <p:txBody>
          <a:bodyPr>
            <a:normAutofit/>
          </a:bodyPr>
          <a:lstStyle/>
          <a:p>
            <a:r>
              <a:rPr lang="en-US" dirty="0"/>
              <a:t>Specified in RFC 1945 (May 1996!)</a:t>
            </a:r>
          </a:p>
          <a:p>
            <a:r>
              <a:rPr lang="en-US" dirty="0"/>
              <a:t>Consists of clients, servers, requests, and responses</a:t>
            </a:r>
          </a:p>
          <a:p>
            <a:r>
              <a:rPr lang="en-US" dirty="0"/>
              <a:t>"The language of the web"</a:t>
            </a:r>
          </a:p>
          <a:p>
            <a:endParaRPr lang="en-US" dirty="0"/>
          </a:p>
          <a:p>
            <a:endParaRPr lang="en-US" dirty="0"/>
          </a:p>
          <a:p>
            <a:r>
              <a:rPr lang="en-US" dirty="0"/>
              <a:t>Improvements and modifications over time</a:t>
            </a:r>
          </a:p>
        </p:txBody>
      </p:sp>
    </p:spTree>
    <p:extLst>
      <p:ext uri="{BB962C8B-B14F-4D97-AF65-F5344CB8AC3E}">
        <p14:creationId xmlns:p14="http://schemas.microsoft.com/office/powerpoint/2010/main" val="3708550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DFBA4-0899-E93F-4542-EB3DD0EC6E77}"/>
              </a:ext>
            </a:extLst>
          </p:cNvPr>
          <p:cNvSpPr>
            <a:spLocks noGrp="1"/>
          </p:cNvSpPr>
          <p:nvPr>
            <p:ph type="title"/>
          </p:nvPr>
        </p:nvSpPr>
        <p:spPr>
          <a:xfrm>
            <a:off x="548640" y="411481"/>
            <a:ext cx="8231293" cy="914400"/>
          </a:xfrm>
        </p:spPr>
        <p:txBody>
          <a:bodyPr/>
          <a:lstStyle/>
          <a:p>
            <a:r>
              <a:rPr lang="en-US" dirty="0"/>
              <a:t>The HTTP Protocol: Rules</a:t>
            </a:r>
          </a:p>
        </p:txBody>
      </p:sp>
      <p:sp>
        <p:nvSpPr>
          <p:cNvPr id="6" name="Content Placeholder 5">
            <a:extLst>
              <a:ext uri="{FF2B5EF4-FFF2-40B4-BE49-F238E27FC236}">
                <a16:creationId xmlns:a16="http://schemas.microsoft.com/office/drawing/2014/main" id="{745EF396-9221-44E1-86A4-5D17C59D303F}"/>
              </a:ext>
            </a:extLst>
          </p:cNvPr>
          <p:cNvSpPr>
            <a:spLocks noGrp="1"/>
          </p:cNvSpPr>
          <p:nvPr>
            <p:ph idx="1"/>
          </p:nvPr>
        </p:nvSpPr>
        <p:spPr>
          <a:xfrm>
            <a:off x="548640" y="1600199"/>
            <a:ext cx="11024925" cy="4572000"/>
          </a:xfrm>
        </p:spPr>
        <p:txBody>
          <a:bodyPr/>
          <a:lstStyle/>
          <a:p>
            <a:r>
              <a:rPr lang="en-US" dirty="0"/>
              <a:t>Client (i.e., browser) always initiates</a:t>
            </a:r>
          </a:p>
          <a:p>
            <a:r>
              <a:rPr lang="en-US" dirty="0"/>
              <a:t>Server responds, is always listening</a:t>
            </a:r>
          </a:p>
          <a:p>
            <a:r>
              <a:rPr lang="en-US" dirty="0"/>
              <a:t>One request, one response: Each HTTP exchange is complete</a:t>
            </a:r>
          </a:p>
          <a:p>
            <a:r>
              <a:rPr lang="en-US" dirty="0"/>
              <a:t>Stateless: Server doesn't remember previous requests (hence cookies needed)</a:t>
            </a:r>
          </a:p>
        </p:txBody>
      </p:sp>
      <p:sp>
        <p:nvSpPr>
          <p:cNvPr id="5" name="Footer Placeholder 4">
            <a:extLst>
              <a:ext uri="{FF2B5EF4-FFF2-40B4-BE49-F238E27FC236}">
                <a16:creationId xmlns:a16="http://schemas.microsoft.com/office/drawing/2014/main" id="{DB13F2E3-E2EB-EEAA-C805-29B02A2DE485}"/>
              </a:ext>
            </a:extLst>
          </p:cNvPr>
          <p:cNvSpPr>
            <a:spLocks noGrp="1"/>
          </p:cNvSpPr>
          <p:nvPr>
            <p:ph type="dt" sz="half" idx="10"/>
          </p:nvPr>
        </p:nvSpPr>
        <p:spPr>
          <a:xfrm>
            <a:off x="548640" y="6629400"/>
            <a:ext cx="822960" cy="228600"/>
          </a:xfrm>
        </p:spPr>
        <p:txBody>
          <a:bodyPr/>
          <a:lstStyle/>
          <a:p>
            <a:r>
              <a:rPr lang="en-US"/>
              <a:t>CY350: Computer Networks</a:t>
            </a:r>
            <a:endParaRPr lang="en-US" dirty="0"/>
          </a:p>
        </p:txBody>
      </p:sp>
      <p:sp>
        <p:nvSpPr>
          <p:cNvPr id="3" name="Date Placeholder 2">
            <a:extLst>
              <a:ext uri="{FF2B5EF4-FFF2-40B4-BE49-F238E27FC236}">
                <a16:creationId xmlns:a16="http://schemas.microsoft.com/office/drawing/2014/main" id="{25C6F924-DC1E-8F05-FCA3-DFE1F561E22E}"/>
              </a:ext>
            </a:extLst>
          </p:cNvPr>
          <p:cNvSpPr>
            <a:spLocks noGrp="1"/>
          </p:cNvSpPr>
          <p:nvPr>
            <p:ph type="sldNum" sz="quarter" idx="11"/>
          </p:nvPr>
        </p:nvSpPr>
        <p:spPr>
          <a:xfrm>
            <a:off x="11245104" y="6629400"/>
            <a:ext cx="399211" cy="228600"/>
          </a:xfrm>
        </p:spPr>
        <p:txBody>
          <a:bodyPr/>
          <a:lstStyle/>
          <a:p>
            <a:endParaRPr lang="en-US"/>
          </a:p>
        </p:txBody>
      </p:sp>
      <p:sp>
        <p:nvSpPr>
          <p:cNvPr id="4" name="Slide Number Placeholder 3">
            <a:extLst>
              <a:ext uri="{FF2B5EF4-FFF2-40B4-BE49-F238E27FC236}">
                <a16:creationId xmlns:a16="http://schemas.microsoft.com/office/drawing/2014/main" id="{C0D5835E-E76F-CE56-A9F3-246210D46B51}"/>
              </a:ext>
            </a:extLst>
          </p:cNvPr>
          <p:cNvSpPr>
            <a:spLocks noGrp="1"/>
          </p:cNvSpPr>
          <p:nvPr>
            <p:ph type="ftr" sz="quarter" idx="4294967295"/>
          </p:nvPr>
        </p:nvSpPr>
        <p:spPr>
          <a:xfrm>
            <a:off x="0" y="6356350"/>
            <a:ext cx="4114800" cy="365125"/>
          </a:xfrm>
          <a:prstGeom prst="rect">
            <a:avLst/>
          </a:prstGeom>
        </p:spPr>
        <p:txBody>
          <a:bodyPr/>
          <a:lstStyle/>
          <a:p>
            <a:fld id="{BE432D27-6A75-4E94-935C-DB475393A8B5}" type="slidenum">
              <a:rPr lang="en-US" smtClean="0"/>
              <a:pPr/>
              <a:t>3</a:t>
            </a:fld>
            <a:endParaRPr lang="en-US"/>
          </a:p>
        </p:txBody>
      </p:sp>
    </p:spTree>
    <p:extLst>
      <p:ext uri="{BB962C8B-B14F-4D97-AF65-F5344CB8AC3E}">
        <p14:creationId xmlns:p14="http://schemas.microsoft.com/office/powerpoint/2010/main" val="3532679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E45E-C85E-B620-26D8-24A63C4E8770}"/>
              </a:ext>
            </a:extLst>
          </p:cNvPr>
          <p:cNvSpPr>
            <a:spLocks noGrp="1"/>
          </p:cNvSpPr>
          <p:nvPr>
            <p:ph type="title"/>
          </p:nvPr>
        </p:nvSpPr>
        <p:spPr>
          <a:xfrm>
            <a:off x="839788" y="365125"/>
            <a:ext cx="10515600" cy="1325563"/>
          </a:xfrm>
        </p:spPr>
        <p:txBody>
          <a:bodyPr/>
          <a:lstStyle/>
          <a:p>
            <a:r>
              <a:rPr lang="en-US" dirty="0"/>
              <a:t>Examples</a:t>
            </a:r>
          </a:p>
        </p:txBody>
      </p:sp>
      <p:sp>
        <p:nvSpPr>
          <p:cNvPr id="5" name="Text Placeholder 4">
            <a:extLst>
              <a:ext uri="{FF2B5EF4-FFF2-40B4-BE49-F238E27FC236}">
                <a16:creationId xmlns:a16="http://schemas.microsoft.com/office/drawing/2014/main" id="{17D52994-45D3-B643-C17D-36AA72A9EE75}"/>
              </a:ext>
            </a:extLst>
          </p:cNvPr>
          <p:cNvSpPr>
            <a:spLocks noGrp="1"/>
          </p:cNvSpPr>
          <p:nvPr>
            <p:ph type="body" idx="1"/>
          </p:nvPr>
        </p:nvSpPr>
        <p:spPr>
          <a:xfrm>
            <a:off x="839788" y="1681163"/>
            <a:ext cx="5157787" cy="823912"/>
          </a:xfrm>
        </p:spPr>
        <p:txBody>
          <a:bodyPr/>
          <a:lstStyle/>
          <a:p>
            <a:r>
              <a:rPr lang="en-US" dirty="0"/>
              <a:t>Request</a:t>
            </a:r>
          </a:p>
        </p:txBody>
      </p:sp>
      <p:sp>
        <p:nvSpPr>
          <p:cNvPr id="6" name="Content Placeholder 5">
            <a:extLst>
              <a:ext uri="{FF2B5EF4-FFF2-40B4-BE49-F238E27FC236}">
                <a16:creationId xmlns:a16="http://schemas.microsoft.com/office/drawing/2014/main" id="{8475756D-21F1-034B-8FD3-FA2291E62496}"/>
              </a:ext>
            </a:extLst>
          </p:cNvPr>
          <p:cNvSpPr>
            <a:spLocks noGrp="1"/>
          </p:cNvSpPr>
          <p:nvPr>
            <p:ph sz="half" idx="2"/>
          </p:nvPr>
        </p:nvSpPr>
        <p:spPr>
          <a:xfrm>
            <a:off x="839788" y="2505075"/>
            <a:ext cx="5157787" cy="3684588"/>
          </a:xfrm>
        </p:spPr>
        <p:txBody>
          <a:bodyPr>
            <a:normAutofit/>
          </a:bodyPr>
          <a:lstStyle/>
          <a:p>
            <a:pPr marL="0" indent="0">
              <a:buNone/>
            </a:pPr>
            <a:r>
              <a:rPr lang="en-US" dirty="0"/>
              <a:t>GET /test HTTP/1.1\r\n</a:t>
            </a:r>
          </a:p>
          <a:p>
            <a:pPr marL="0" indent="0">
              <a:buNone/>
            </a:pPr>
            <a:r>
              <a:rPr lang="en-US" dirty="0"/>
              <a:t>Host: example.com\r\n</a:t>
            </a:r>
          </a:p>
          <a:p>
            <a:pPr marL="0" indent="0">
              <a:buNone/>
            </a:pPr>
            <a:r>
              <a:rPr lang="en-US" dirty="0"/>
              <a:t>Accept: */*\r\n</a:t>
            </a:r>
          </a:p>
          <a:p>
            <a:pPr marL="0" indent="0">
              <a:buNone/>
            </a:pPr>
            <a:r>
              <a:rPr lang="en-US" dirty="0"/>
              <a:t>\r\n</a:t>
            </a:r>
          </a:p>
          <a:p>
            <a:pPr marL="0" indent="0">
              <a:buNone/>
            </a:pPr>
            <a:r>
              <a:rPr lang="en-US" dirty="0"/>
              <a:t>{"param"="hello"}\r\n</a:t>
            </a:r>
          </a:p>
        </p:txBody>
      </p:sp>
      <p:sp>
        <p:nvSpPr>
          <p:cNvPr id="7" name="Text Placeholder 6">
            <a:extLst>
              <a:ext uri="{FF2B5EF4-FFF2-40B4-BE49-F238E27FC236}">
                <a16:creationId xmlns:a16="http://schemas.microsoft.com/office/drawing/2014/main" id="{9CD86912-9B87-13C6-250E-926BC57C5943}"/>
              </a:ext>
            </a:extLst>
          </p:cNvPr>
          <p:cNvSpPr>
            <a:spLocks noGrp="1"/>
          </p:cNvSpPr>
          <p:nvPr>
            <p:ph type="body" sz="quarter" idx="3"/>
          </p:nvPr>
        </p:nvSpPr>
        <p:spPr>
          <a:xfrm>
            <a:off x="6172200" y="1681163"/>
            <a:ext cx="5183188" cy="823912"/>
          </a:xfrm>
        </p:spPr>
        <p:txBody>
          <a:bodyPr/>
          <a:lstStyle/>
          <a:p>
            <a:r>
              <a:rPr lang="en-US" dirty="0"/>
              <a:t>Response</a:t>
            </a:r>
          </a:p>
        </p:txBody>
      </p:sp>
      <p:sp>
        <p:nvSpPr>
          <p:cNvPr id="8" name="Content Placeholder 7">
            <a:extLst>
              <a:ext uri="{FF2B5EF4-FFF2-40B4-BE49-F238E27FC236}">
                <a16:creationId xmlns:a16="http://schemas.microsoft.com/office/drawing/2014/main" id="{B0EAED91-6841-39BB-9F0C-96EFB627CDF1}"/>
              </a:ext>
            </a:extLst>
          </p:cNvPr>
          <p:cNvSpPr>
            <a:spLocks noGrp="1"/>
          </p:cNvSpPr>
          <p:nvPr>
            <p:ph sz="quarter" idx="4"/>
          </p:nvPr>
        </p:nvSpPr>
        <p:spPr>
          <a:xfrm>
            <a:off x="6172200" y="2505075"/>
            <a:ext cx="5183188" cy="3684588"/>
          </a:xfrm>
        </p:spPr>
        <p:txBody>
          <a:bodyPr>
            <a:normAutofit/>
          </a:bodyPr>
          <a:lstStyle/>
          <a:p>
            <a:pPr marL="0" indent="0">
              <a:buNone/>
            </a:pPr>
            <a:r>
              <a:rPr lang="en-US" dirty="0"/>
              <a:t>HTTP/1.1 404 Not Found\r\n</a:t>
            </a:r>
          </a:p>
          <a:p>
            <a:pPr marL="0" indent="0">
              <a:buNone/>
            </a:pPr>
            <a:r>
              <a:rPr lang="en-US" dirty="0"/>
              <a:t>Server: Apache/2.0.52\r\n</a:t>
            </a:r>
          </a:p>
          <a:p>
            <a:pPr marL="0" indent="0">
              <a:buNone/>
            </a:pPr>
            <a:r>
              <a:rPr lang="en-US" dirty="0"/>
              <a:t>Accept-Ranges: bytes\r\n</a:t>
            </a:r>
          </a:p>
          <a:p>
            <a:pPr marL="0" indent="0">
              <a:buNone/>
            </a:pPr>
            <a:r>
              <a:rPr lang="en-US" dirty="0"/>
              <a:t>Content-Length: 2652\r\n</a:t>
            </a:r>
          </a:p>
          <a:p>
            <a:pPr marL="0" indent="0">
              <a:buNone/>
            </a:pPr>
            <a:r>
              <a:rPr lang="en-US" dirty="0"/>
              <a:t>Content-Type: text/html;\r\n</a:t>
            </a:r>
          </a:p>
          <a:p>
            <a:pPr marL="0" indent="0">
              <a:buNone/>
            </a:pPr>
            <a:r>
              <a:rPr lang="en-US" dirty="0"/>
              <a:t>\r\n</a:t>
            </a:r>
          </a:p>
          <a:p>
            <a:pPr marL="0" indent="0">
              <a:buNone/>
            </a:pPr>
            <a:r>
              <a:rPr lang="en-US" dirty="0"/>
              <a:t>&lt;!doctype html&gt;&lt;html ...</a:t>
            </a:r>
          </a:p>
        </p:txBody>
      </p:sp>
      <p:sp>
        <p:nvSpPr>
          <p:cNvPr id="9" name="Rectangle 8">
            <a:extLst>
              <a:ext uri="{FF2B5EF4-FFF2-40B4-BE49-F238E27FC236}">
                <a16:creationId xmlns:a16="http://schemas.microsoft.com/office/drawing/2014/main" id="{652E747B-6627-69FF-7AF7-81253B1491C7}"/>
              </a:ext>
            </a:extLst>
          </p:cNvPr>
          <p:cNvSpPr/>
          <p:nvPr/>
        </p:nvSpPr>
        <p:spPr>
          <a:xfrm>
            <a:off x="148753" y="2450034"/>
            <a:ext cx="484903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A6B932-8A9E-CA83-7114-4BB2D6357BAD}"/>
              </a:ext>
            </a:extLst>
          </p:cNvPr>
          <p:cNvSpPr/>
          <p:nvPr/>
        </p:nvSpPr>
        <p:spPr>
          <a:xfrm>
            <a:off x="5458940" y="2450034"/>
            <a:ext cx="626771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F2487E9-A0DA-EC32-0789-D984C87B6D80}"/>
              </a:ext>
            </a:extLst>
          </p:cNvPr>
          <p:cNvSpPr txBox="1"/>
          <p:nvPr/>
        </p:nvSpPr>
        <p:spPr>
          <a:xfrm>
            <a:off x="5458940" y="243076"/>
            <a:ext cx="3734382" cy="1384995"/>
          </a:xfrm>
          <a:prstGeom prst="rect">
            <a:avLst/>
          </a:prstGeom>
          <a:noFill/>
        </p:spPr>
        <p:txBody>
          <a:bodyPr wrap="square" rtlCol="0">
            <a:spAutoFit/>
          </a:bodyPr>
          <a:lstStyle/>
          <a:p>
            <a:r>
              <a:rPr lang="en-US" sz="2800" dirty="0">
                <a:solidFill>
                  <a:schemeClr val="accent2"/>
                </a:solidFill>
              </a:rPr>
              <a:t>Line</a:t>
            </a:r>
          </a:p>
          <a:p>
            <a:r>
              <a:rPr lang="en-US" sz="2800" dirty="0">
                <a:solidFill>
                  <a:schemeClr val="accent4"/>
                </a:solidFill>
              </a:rPr>
              <a:t>Headers</a:t>
            </a:r>
          </a:p>
          <a:p>
            <a:r>
              <a:rPr lang="en-US" sz="2800" dirty="0">
                <a:solidFill>
                  <a:schemeClr val="accent6"/>
                </a:solidFill>
              </a:rPr>
              <a:t>Body</a:t>
            </a:r>
          </a:p>
        </p:txBody>
      </p:sp>
      <p:sp>
        <p:nvSpPr>
          <p:cNvPr id="12" name="Rectangle 11">
            <a:extLst>
              <a:ext uri="{FF2B5EF4-FFF2-40B4-BE49-F238E27FC236}">
                <a16:creationId xmlns:a16="http://schemas.microsoft.com/office/drawing/2014/main" id="{D4E3EA7B-9D77-B0F1-067B-31AF0993092D}"/>
              </a:ext>
            </a:extLst>
          </p:cNvPr>
          <p:cNvSpPr/>
          <p:nvPr/>
        </p:nvSpPr>
        <p:spPr>
          <a:xfrm>
            <a:off x="148753" y="2965673"/>
            <a:ext cx="4849036" cy="88560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DC5F60D-007E-66AF-6FF1-0FA7F7F81DD0}"/>
              </a:ext>
            </a:extLst>
          </p:cNvPr>
          <p:cNvSpPr/>
          <p:nvPr/>
        </p:nvSpPr>
        <p:spPr>
          <a:xfrm>
            <a:off x="5458940" y="2961276"/>
            <a:ext cx="6267716" cy="180495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E7A659-8B15-8C2D-9F6D-48A69DA0398F}"/>
              </a:ext>
            </a:extLst>
          </p:cNvPr>
          <p:cNvSpPr/>
          <p:nvPr/>
        </p:nvSpPr>
        <p:spPr>
          <a:xfrm>
            <a:off x="148753" y="4339541"/>
            <a:ext cx="484903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3AB2022-825F-1557-CD1D-486187F74DDF}"/>
              </a:ext>
            </a:extLst>
          </p:cNvPr>
          <p:cNvSpPr/>
          <p:nvPr/>
        </p:nvSpPr>
        <p:spPr>
          <a:xfrm>
            <a:off x="5458940" y="5315926"/>
            <a:ext cx="626771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04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animBg="1"/>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CACA3-FE80-8946-CC46-CB715FEB115C}"/>
              </a:ext>
            </a:extLst>
          </p:cNvPr>
          <p:cNvSpPr>
            <a:spLocks noGrp="1"/>
          </p:cNvSpPr>
          <p:nvPr>
            <p:ph type="title"/>
          </p:nvPr>
        </p:nvSpPr>
        <p:spPr>
          <a:xfrm>
            <a:off x="839788" y="365125"/>
            <a:ext cx="10515600" cy="1325563"/>
          </a:xfrm>
        </p:spPr>
        <p:txBody>
          <a:bodyPr/>
          <a:lstStyle/>
          <a:p>
            <a:r>
              <a:rPr lang="en-US" dirty="0"/>
              <a:t>Methods and Codes</a:t>
            </a:r>
          </a:p>
        </p:txBody>
      </p:sp>
      <p:sp>
        <p:nvSpPr>
          <p:cNvPr id="3" name="Text Placeholder 2">
            <a:extLst>
              <a:ext uri="{FF2B5EF4-FFF2-40B4-BE49-F238E27FC236}">
                <a16:creationId xmlns:a16="http://schemas.microsoft.com/office/drawing/2014/main" id="{0141AB30-5A23-E470-BA58-A56B1EDB6387}"/>
              </a:ext>
            </a:extLst>
          </p:cNvPr>
          <p:cNvSpPr>
            <a:spLocks noGrp="1"/>
          </p:cNvSpPr>
          <p:nvPr>
            <p:ph type="body" idx="1"/>
          </p:nvPr>
        </p:nvSpPr>
        <p:spPr>
          <a:xfrm>
            <a:off x="839787" y="449468"/>
            <a:ext cx="5157787" cy="823912"/>
          </a:xfrm>
        </p:spPr>
        <p:txBody>
          <a:bodyPr/>
          <a:lstStyle/>
          <a:p>
            <a:r>
              <a:rPr lang="en-US" dirty="0"/>
              <a:t>Request Methods</a:t>
            </a:r>
          </a:p>
        </p:txBody>
      </p:sp>
      <p:sp>
        <p:nvSpPr>
          <p:cNvPr id="4" name="Content Placeholder 3">
            <a:extLst>
              <a:ext uri="{FF2B5EF4-FFF2-40B4-BE49-F238E27FC236}">
                <a16:creationId xmlns:a16="http://schemas.microsoft.com/office/drawing/2014/main" id="{AD089FC8-7D5F-E8E5-C510-EF80D54B5BA4}"/>
              </a:ext>
            </a:extLst>
          </p:cNvPr>
          <p:cNvSpPr>
            <a:spLocks noGrp="1"/>
          </p:cNvSpPr>
          <p:nvPr>
            <p:ph sz="half" idx="2"/>
          </p:nvPr>
        </p:nvSpPr>
        <p:spPr>
          <a:xfrm>
            <a:off x="836612" y="1364354"/>
            <a:ext cx="5157787" cy="3684588"/>
          </a:xfrm>
        </p:spPr>
        <p:txBody>
          <a:bodyPr>
            <a:normAutofit/>
          </a:bodyPr>
          <a:lstStyle/>
          <a:p>
            <a:pPr marL="0" indent="0">
              <a:buNone/>
            </a:pPr>
            <a:r>
              <a:rPr lang="en-US" sz="2000" dirty="0"/>
              <a:t> Method  = "GET”;</a:t>
            </a:r>
          </a:p>
          <a:p>
            <a:pPr marL="0" indent="0">
              <a:buNone/>
            </a:pPr>
            <a:r>
              <a:rPr lang="en-US" sz="2000" dirty="0"/>
              <a:t>                | "HEAD";</a:t>
            </a:r>
          </a:p>
          <a:p>
            <a:pPr marL="0" indent="0">
              <a:buNone/>
            </a:pPr>
            <a:r>
              <a:rPr lang="en-US" sz="2000" dirty="0"/>
              <a:t>                | "POST"; </a:t>
            </a:r>
          </a:p>
          <a:p>
            <a:pPr marL="0" indent="0">
              <a:buNone/>
            </a:pPr>
            <a:r>
              <a:rPr lang="en-US" sz="2000" dirty="0"/>
              <a:t>                | extension-method</a:t>
            </a:r>
          </a:p>
        </p:txBody>
      </p:sp>
      <p:sp>
        <p:nvSpPr>
          <p:cNvPr id="5" name="Text Placeholder 4">
            <a:extLst>
              <a:ext uri="{FF2B5EF4-FFF2-40B4-BE49-F238E27FC236}">
                <a16:creationId xmlns:a16="http://schemas.microsoft.com/office/drawing/2014/main" id="{D46D43BE-7077-09FB-350A-CAED42AE5D9E}"/>
              </a:ext>
            </a:extLst>
          </p:cNvPr>
          <p:cNvSpPr>
            <a:spLocks noGrp="1"/>
          </p:cNvSpPr>
          <p:nvPr>
            <p:ph type="body" sz="quarter" idx="3"/>
          </p:nvPr>
        </p:nvSpPr>
        <p:spPr>
          <a:xfrm>
            <a:off x="6169024" y="456817"/>
            <a:ext cx="5183188" cy="823912"/>
          </a:xfrm>
        </p:spPr>
        <p:txBody>
          <a:bodyPr/>
          <a:lstStyle/>
          <a:p>
            <a:r>
              <a:rPr lang="en-US" dirty="0"/>
              <a:t>Response Status Code</a:t>
            </a:r>
          </a:p>
        </p:txBody>
      </p:sp>
      <p:sp>
        <p:nvSpPr>
          <p:cNvPr id="6" name="Content Placeholder 5">
            <a:extLst>
              <a:ext uri="{FF2B5EF4-FFF2-40B4-BE49-F238E27FC236}">
                <a16:creationId xmlns:a16="http://schemas.microsoft.com/office/drawing/2014/main" id="{3146DB02-E8A2-2CCF-D3F0-29E5A2395ACE}"/>
              </a:ext>
            </a:extLst>
          </p:cNvPr>
          <p:cNvSpPr>
            <a:spLocks noGrp="1"/>
          </p:cNvSpPr>
          <p:nvPr>
            <p:ph sz="quarter" idx="4"/>
          </p:nvPr>
        </p:nvSpPr>
        <p:spPr>
          <a:xfrm>
            <a:off x="6169024" y="1359570"/>
            <a:ext cx="6198822" cy="5367802"/>
          </a:xfrm>
        </p:spPr>
        <p:txBody>
          <a:bodyPr>
            <a:normAutofit/>
          </a:bodyPr>
          <a:lstStyle/>
          <a:p>
            <a:pPr marL="0" indent="0">
              <a:buNone/>
            </a:pPr>
            <a:r>
              <a:rPr lang="en-US" sz="1400" dirty="0"/>
              <a:t> Status-Code= "200"   ; OK</a:t>
            </a:r>
          </a:p>
          <a:p>
            <a:pPr marL="0" indent="0">
              <a:buNone/>
            </a:pPr>
            <a:r>
              <a:rPr lang="en-US" sz="1400" dirty="0"/>
              <a:t>                      | "201"   ; Created</a:t>
            </a:r>
          </a:p>
          <a:p>
            <a:pPr marL="0" indent="0">
              <a:buNone/>
            </a:pPr>
            <a:r>
              <a:rPr lang="en-US" sz="1400" dirty="0"/>
              <a:t>                      | "202"   ; Accepted</a:t>
            </a:r>
          </a:p>
          <a:p>
            <a:pPr marL="0" indent="0">
              <a:buNone/>
            </a:pPr>
            <a:r>
              <a:rPr lang="en-US" sz="1400" dirty="0"/>
              <a:t>                      | "204"   ; No Content</a:t>
            </a:r>
          </a:p>
          <a:p>
            <a:pPr marL="0" indent="0">
              <a:buNone/>
            </a:pPr>
            <a:r>
              <a:rPr lang="en-US" sz="1400" dirty="0"/>
              <a:t>                      | "301"   ; Moved Permanently</a:t>
            </a:r>
          </a:p>
          <a:p>
            <a:pPr marL="0" indent="0">
              <a:buNone/>
            </a:pPr>
            <a:r>
              <a:rPr lang="en-US" sz="1400" dirty="0"/>
              <a:t>                      | "302"   ; Moved Temporarily</a:t>
            </a:r>
          </a:p>
          <a:p>
            <a:pPr marL="0" indent="0">
              <a:buNone/>
            </a:pPr>
            <a:r>
              <a:rPr lang="en-US" sz="1400" dirty="0"/>
              <a:t>                      | "304"   ; Not Modified</a:t>
            </a:r>
          </a:p>
          <a:p>
            <a:pPr marL="0" indent="0">
              <a:buNone/>
            </a:pPr>
            <a:r>
              <a:rPr lang="en-US" sz="1400" dirty="0"/>
              <a:t>                      | "400"   ; Bad Request</a:t>
            </a:r>
          </a:p>
          <a:p>
            <a:pPr marL="0" indent="0">
              <a:buNone/>
            </a:pPr>
            <a:r>
              <a:rPr lang="en-US" sz="1400" dirty="0"/>
              <a:t>                      | "401"   ; Unauthorized</a:t>
            </a:r>
          </a:p>
          <a:p>
            <a:pPr marL="0" indent="0">
              <a:buNone/>
            </a:pPr>
            <a:r>
              <a:rPr lang="en-US" sz="1400" dirty="0"/>
              <a:t>                      | "403"   ; Forbidden</a:t>
            </a:r>
          </a:p>
          <a:p>
            <a:pPr marL="0" indent="0">
              <a:buNone/>
            </a:pPr>
            <a:r>
              <a:rPr lang="en-US" sz="1400" dirty="0"/>
              <a:t>                      | "404"   ; Not Found</a:t>
            </a:r>
          </a:p>
          <a:p>
            <a:pPr marL="0" indent="0">
              <a:buNone/>
            </a:pPr>
            <a:r>
              <a:rPr lang="en-US" sz="1400" dirty="0"/>
              <a:t>                      | "500"   ; Internal Server Error</a:t>
            </a:r>
          </a:p>
          <a:p>
            <a:pPr marL="0" indent="0">
              <a:buNone/>
            </a:pPr>
            <a:r>
              <a:rPr lang="en-US" sz="1400" dirty="0"/>
              <a:t>                      | "501"   ; Not Implemented</a:t>
            </a:r>
          </a:p>
          <a:p>
            <a:pPr marL="0" indent="0">
              <a:buNone/>
            </a:pPr>
            <a:r>
              <a:rPr lang="en-US" sz="1400" dirty="0"/>
              <a:t>                      | "502"   ; Bad Gateway</a:t>
            </a:r>
          </a:p>
          <a:p>
            <a:pPr marL="0" indent="0">
              <a:buNone/>
            </a:pPr>
            <a:r>
              <a:rPr lang="en-US" sz="1400" dirty="0"/>
              <a:t>                      | "503"   ; Service Unavailable</a:t>
            </a:r>
          </a:p>
          <a:p>
            <a:pPr marL="0" indent="0">
              <a:buNone/>
            </a:pPr>
            <a:r>
              <a:rPr lang="en-US" sz="1400" dirty="0"/>
              <a:t>                      | extension-code</a:t>
            </a:r>
          </a:p>
        </p:txBody>
      </p:sp>
      <p:sp>
        <p:nvSpPr>
          <p:cNvPr id="8" name="TextBox 7">
            <a:extLst>
              <a:ext uri="{FF2B5EF4-FFF2-40B4-BE49-F238E27FC236}">
                <a16:creationId xmlns:a16="http://schemas.microsoft.com/office/drawing/2014/main" id="{FE9412AF-9C6E-C04B-8587-D9201265E2A3}"/>
              </a:ext>
            </a:extLst>
          </p:cNvPr>
          <p:cNvSpPr txBox="1"/>
          <p:nvPr/>
        </p:nvSpPr>
        <p:spPr>
          <a:xfrm>
            <a:off x="473868" y="6358040"/>
            <a:ext cx="11047412" cy="369332"/>
          </a:xfrm>
          <a:prstGeom prst="rect">
            <a:avLst/>
          </a:prstGeom>
          <a:noFill/>
        </p:spPr>
        <p:txBody>
          <a:bodyPr wrap="square" rtlCol="0">
            <a:spAutoFit/>
          </a:bodyPr>
          <a:lstStyle/>
          <a:p>
            <a:r>
              <a:rPr lang="en-US" dirty="0"/>
              <a:t>https://developer.mozilla.org/en-US/docs/Web/HTTP/Reference/Status</a:t>
            </a:r>
          </a:p>
        </p:txBody>
      </p:sp>
    </p:spTree>
    <p:extLst>
      <p:ext uri="{BB962C8B-B14F-4D97-AF65-F5344CB8AC3E}">
        <p14:creationId xmlns:p14="http://schemas.microsoft.com/office/powerpoint/2010/main" val="1543073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46C3C-2508-617F-DFFD-69D8C1A562D3}"/>
              </a:ext>
            </a:extLst>
          </p:cNvPr>
          <p:cNvSpPr>
            <a:spLocks noGrp="1"/>
          </p:cNvSpPr>
          <p:nvPr>
            <p:ph type="title"/>
          </p:nvPr>
        </p:nvSpPr>
        <p:spPr>
          <a:xfrm>
            <a:off x="548640" y="411481"/>
            <a:ext cx="8231293" cy="914400"/>
          </a:xfrm>
        </p:spPr>
        <p:txBody>
          <a:bodyPr/>
          <a:lstStyle/>
          <a:p>
            <a:r>
              <a:rPr lang="en-US" dirty="0"/>
              <a:t>HTTP Tools</a:t>
            </a:r>
          </a:p>
        </p:txBody>
      </p:sp>
      <p:sp>
        <p:nvSpPr>
          <p:cNvPr id="3" name="Content Placeholder 2">
            <a:extLst>
              <a:ext uri="{FF2B5EF4-FFF2-40B4-BE49-F238E27FC236}">
                <a16:creationId xmlns:a16="http://schemas.microsoft.com/office/drawing/2014/main" id="{ABEE76AF-6801-3ED8-C63E-EF4D8270B203}"/>
              </a:ext>
            </a:extLst>
          </p:cNvPr>
          <p:cNvSpPr>
            <a:spLocks noGrp="1"/>
          </p:cNvSpPr>
          <p:nvPr>
            <p:ph idx="1"/>
          </p:nvPr>
        </p:nvSpPr>
        <p:spPr>
          <a:xfrm>
            <a:off x="548640" y="1600199"/>
            <a:ext cx="11024925" cy="4572000"/>
          </a:xfrm>
        </p:spPr>
        <p:txBody>
          <a:bodyPr>
            <a:normAutofit/>
          </a:bodyPr>
          <a:lstStyle/>
          <a:p>
            <a:r>
              <a:rPr lang="en-US" dirty="0"/>
              <a:t>telnet</a:t>
            </a:r>
          </a:p>
          <a:p>
            <a:r>
              <a:rPr lang="en-US" dirty="0" err="1"/>
              <a:t>wget</a:t>
            </a:r>
            <a:endParaRPr lang="en-US" dirty="0"/>
          </a:p>
          <a:p>
            <a:r>
              <a:rPr lang="en-US" dirty="0"/>
              <a:t>curl</a:t>
            </a:r>
          </a:p>
          <a:p>
            <a:r>
              <a:rPr lang="en-US" dirty="0"/>
              <a:t>postman</a:t>
            </a:r>
          </a:p>
          <a:p>
            <a:r>
              <a:rPr lang="en-US" dirty="0"/>
              <a:t>requests</a:t>
            </a:r>
          </a:p>
          <a:p>
            <a:r>
              <a:rPr lang="en-US" dirty="0"/>
              <a:t>Wireshark</a:t>
            </a:r>
          </a:p>
          <a:p>
            <a:r>
              <a:rPr lang="en-US" dirty="0"/>
              <a:t>Browser (dev tools too!)</a:t>
            </a:r>
          </a:p>
          <a:p>
            <a:endParaRPr lang="en-US" dirty="0"/>
          </a:p>
          <a:p>
            <a:r>
              <a:rPr lang="en-US" dirty="0"/>
              <a:t>Demo</a:t>
            </a:r>
          </a:p>
        </p:txBody>
      </p:sp>
    </p:spTree>
    <p:extLst>
      <p:ext uri="{BB962C8B-B14F-4D97-AF65-F5344CB8AC3E}">
        <p14:creationId xmlns:p14="http://schemas.microsoft.com/office/powerpoint/2010/main" val="2012762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C739B-ABD3-1B66-CBCA-E60B87CBD537}"/>
              </a:ext>
            </a:extLst>
          </p:cNvPr>
          <p:cNvSpPr>
            <a:spLocks noGrp="1"/>
          </p:cNvSpPr>
          <p:nvPr>
            <p:ph type="title"/>
          </p:nvPr>
        </p:nvSpPr>
        <p:spPr>
          <a:xfrm>
            <a:off x="548640" y="411481"/>
            <a:ext cx="8231293" cy="914400"/>
          </a:xfrm>
        </p:spPr>
        <p:txBody>
          <a:bodyPr/>
          <a:lstStyle/>
          <a:p>
            <a:r>
              <a:rPr lang="en-US" dirty="0"/>
              <a:t>In python</a:t>
            </a:r>
          </a:p>
        </p:txBody>
      </p:sp>
      <p:sp>
        <p:nvSpPr>
          <p:cNvPr id="3" name="Content Placeholder 2">
            <a:extLst>
              <a:ext uri="{FF2B5EF4-FFF2-40B4-BE49-F238E27FC236}">
                <a16:creationId xmlns:a16="http://schemas.microsoft.com/office/drawing/2014/main" id="{7FEEDE65-D283-D0B6-5E49-938319C07FBD}"/>
              </a:ext>
            </a:extLst>
          </p:cNvPr>
          <p:cNvSpPr>
            <a:spLocks noGrp="1"/>
          </p:cNvSpPr>
          <p:nvPr>
            <p:ph idx="1"/>
          </p:nvPr>
        </p:nvSpPr>
        <p:spPr>
          <a:xfrm>
            <a:off x="548640" y="1600199"/>
            <a:ext cx="11024925" cy="4572000"/>
          </a:xfrm>
        </p:spPr>
        <p:txBody>
          <a:bodyPr/>
          <a:lstStyle/>
          <a:p>
            <a:r>
              <a:rPr lang="en-US" dirty="0"/>
              <a:t>Uses the requests library </a:t>
            </a:r>
          </a:p>
          <a:p>
            <a:r>
              <a:rPr lang="en-US" dirty="0">
                <a:hlinkClick r:id="rId2"/>
              </a:rPr>
              <a:t>https://docs.python-requests.org/en/latest/user/quickstart/#make-a-request</a:t>
            </a:r>
            <a:endParaRPr lang="en-US" dirty="0"/>
          </a:p>
          <a:p>
            <a:endParaRPr lang="en-US" dirty="0"/>
          </a:p>
          <a:p>
            <a:r>
              <a:rPr lang="en-US" dirty="0"/>
              <a:t>Demo</a:t>
            </a:r>
          </a:p>
        </p:txBody>
      </p:sp>
    </p:spTree>
    <p:extLst>
      <p:ext uri="{BB962C8B-B14F-4D97-AF65-F5344CB8AC3E}">
        <p14:creationId xmlns:p14="http://schemas.microsoft.com/office/powerpoint/2010/main" val="1157162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9E38-6DAD-E4D7-9B8A-2000494494F0}"/>
              </a:ext>
            </a:extLst>
          </p:cNvPr>
          <p:cNvSpPr>
            <a:spLocks noGrp="1"/>
          </p:cNvSpPr>
          <p:nvPr>
            <p:ph type="title"/>
          </p:nvPr>
        </p:nvSpPr>
        <p:spPr/>
        <p:txBody>
          <a:bodyPr/>
          <a:lstStyle/>
          <a:p>
            <a:r>
              <a:rPr lang="en-US" dirty="0"/>
              <a:t>More Than Text</a:t>
            </a:r>
          </a:p>
        </p:txBody>
      </p:sp>
      <p:sp>
        <p:nvSpPr>
          <p:cNvPr id="3" name="Content Placeholder 2">
            <a:extLst>
              <a:ext uri="{FF2B5EF4-FFF2-40B4-BE49-F238E27FC236}">
                <a16:creationId xmlns:a16="http://schemas.microsoft.com/office/drawing/2014/main" id="{9A27DC0E-A2EB-AAA5-26E5-80B2C604BDF2}"/>
              </a:ext>
            </a:extLst>
          </p:cNvPr>
          <p:cNvSpPr>
            <a:spLocks noGrp="1"/>
          </p:cNvSpPr>
          <p:nvPr>
            <p:ph idx="1"/>
          </p:nvPr>
        </p:nvSpPr>
        <p:spPr/>
        <p:txBody>
          <a:bodyPr/>
          <a:lstStyle/>
          <a:p>
            <a:r>
              <a:rPr lang="en-US" dirty="0"/>
              <a:t>Have you ever seen an image online?</a:t>
            </a:r>
          </a:p>
          <a:p>
            <a:r>
              <a:rPr lang="en-US" dirty="0"/>
              <a:t>Have you ever seen a video?</a:t>
            </a:r>
          </a:p>
          <a:p>
            <a:r>
              <a:rPr lang="en-US" dirty="0"/>
              <a:t>Other formats??</a:t>
            </a:r>
          </a:p>
          <a:p>
            <a:endParaRPr lang="en-US" dirty="0"/>
          </a:p>
        </p:txBody>
      </p:sp>
      <p:sp>
        <p:nvSpPr>
          <p:cNvPr id="4" name="Date Placeholder 3">
            <a:extLst>
              <a:ext uri="{FF2B5EF4-FFF2-40B4-BE49-F238E27FC236}">
                <a16:creationId xmlns:a16="http://schemas.microsoft.com/office/drawing/2014/main" id="{BA21DF7F-179D-93A4-A34C-19AFA15CC350}"/>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B3F49F5A-5999-7FEE-3F3E-C8FE162C0607}"/>
              </a:ext>
            </a:extLst>
          </p:cNvPr>
          <p:cNvSpPr>
            <a:spLocks noGrp="1"/>
          </p:cNvSpPr>
          <p:nvPr>
            <p:ph type="sldNum" sz="quarter" idx="11"/>
          </p:nvPr>
        </p:nvSpPr>
        <p:spPr/>
        <p:txBody>
          <a:bodyPr/>
          <a:lstStyle/>
          <a:p>
            <a:fld id="{64E5BE4B-2FBF-4174-9E62-85FAD1CB43A6}" type="slidenum">
              <a:rPr lang="en-US" smtClean="0"/>
              <a:pPr/>
              <a:t>8</a:t>
            </a:fld>
            <a:endParaRPr lang="en-US"/>
          </a:p>
        </p:txBody>
      </p:sp>
    </p:spTree>
    <p:extLst>
      <p:ext uri="{BB962C8B-B14F-4D97-AF65-F5344CB8AC3E}">
        <p14:creationId xmlns:p14="http://schemas.microsoft.com/office/powerpoint/2010/main" val="262271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3320-3E63-D43F-8353-454E919E51F8}"/>
              </a:ext>
            </a:extLst>
          </p:cNvPr>
          <p:cNvSpPr>
            <a:spLocks noGrp="1"/>
          </p:cNvSpPr>
          <p:nvPr>
            <p:ph type="title"/>
          </p:nvPr>
        </p:nvSpPr>
        <p:spPr/>
        <p:txBody>
          <a:bodyPr/>
          <a:lstStyle/>
          <a:p>
            <a:r>
              <a:rPr lang="en-US" dirty="0"/>
              <a:t>Encoding Text</a:t>
            </a:r>
          </a:p>
        </p:txBody>
      </p:sp>
      <p:sp>
        <p:nvSpPr>
          <p:cNvPr id="3" name="Content Placeholder 2">
            <a:extLst>
              <a:ext uri="{FF2B5EF4-FFF2-40B4-BE49-F238E27FC236}">
                <a16:creationId xmlns:a16="http://schemas.microsoft.com/office/drawing/2014/main" id="{AA901D3A-6F2F-A254-2420-040EC3411AEA}"/>
              </a:ext>
            </a:extLst>
          </p:cNvPr>
          <p:cNvSpPr>
            <a:spLocks noGrp="1"/>
          </p:cNvSpPr>
          <p:nvPr>
            <p:ph idx="1"/>
          </p:nvPr>
        </p:nvSpPr>
        <p:spPr/>
        <p:txBody>
          <a:bodyPr/>
          <a:lstStyle/>
          <a:p>
            <a:r>
              <a:rPr lang="en-US" dirty="0"/>
              <a:t>Remember all data is binary</a:t>
            </a:r>
          </a:p>
          <a:p>
            <a:r>
              <a:rPr lang="en-US" dirty="0"/>
              <a:t>Computer must represent data consistently</a:t>
            </a:r>
          </a:p>
          <a:p>
            <a:r>
              <a:rPr lang="en-US" dirty="0"/>
              <a:t>An encoding specifies the data representation</a:t>
            </a:r>
          </a:p>
          <a:p>
            <a:endParaRPr lang="en-US" dirty="0"/>
          </a:p>
          <a:p>
            <a:endParaRPr lang="en-US" dirty="0"/>
          </a:p>
        </p:txBody>
      </p:sp>
      <p:sp>
        <p:nvSpPr>
          <p:cNvPr id="4" name="Date Placeholder 3">
            <a:extLst>
              <a:ext uri="{FF2B5EF4-FFF2-40B4-BE49-F238E27FC236}">
                <a16:creationId xmlns:a16="http://schemas.microsoft.com/office/drawing/2014/main" id="{25A4AFED-28E0-462A-17C6-7EB8DBEC3ED1}"/>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5C026297-B7AE-DE85-62A2-3FA449FB2059}"/>
              </a:ext>
            </a:extLst>
          </p:cNvPr>
          <p:cNvSpPr>
            <a:spLocks noGrp="1"/>
          </p:cNvSpPr>
          <p:nvPr>
            <p:ph type="sldNum" sz="quarter" idx="11"/>
          </p:nvPr>
        </p:nvSpPr>
        <p:spPr/>
        <p:txBody>
          <a:bodyPr/>
          <a:lstStyle/>
          <a:p>
            <a:fld id="{64E5BE4B-2FBF-4174-9E62-85FAD1CB43A6}" type="slidenum">
              <a:rPr lang="en-US" smtClean="0"/>
              <a:pPr/>
              <a:t>9</a:t>
            </a:fld>
            <a:endParaRPr lang="en-US"/>
          </a:p>
        </p:txBody>
      </p:sp>
      <p:graphicFrame>
        <p:nvGraphicFramePr>
          <p:cNvPr id="8" name="Table 7">
            <a:extLst>
              <a:ext uri="{FF2B5EF4-FFF2-40B4-BE49-F238E27FC236}">
                <a16:creationId xmlns:a16="http://schemas.microsoft.com/office/drawing/2014/main" id="{9B09FF67-D76C-EDEB-DEB6-C8DC018CC54B}"/>
              </a:ext>
            </a:extLst>
          </p:cNvPr>
          <p:cNvGraphicFramePr>
            <a:graphicFrameLocks noGrp="1"/>
          </p:cNvGraphicFramePr>
          <p:nvPr>
            <p:extLst>
              <p:ext uri="{D42A27DB-BD31-4B8C-83A1-F6EECF244321}">
                <p14:modId xmlns:p14="http://schemas.microsoft.com/office/powerpoint/2010/main" val="3374590313"/>
              </p:ext>
            </p:extLst>
          </p:nvPr>
        </p:nvGraphicFramePr>
        <p:xfrm>
          <a:off x="259508" y="3547989"/>
          <a:ext cx="11093448" cy="2270760"/>
        </p:xfrm>
        <a:graphic>
          <a:graphicData uri="http://schemas.openxmlformats.org/drawingml/2006/table">
            <a:tbl>
              <a:tblPr bandRow="1">
                <a:tableStyleId>{9D7B26C5-4107-4FEC-AEDC-1716B250A1EF}</a:tableStyleId>
              </a:tblPr>
              <a:tblGrid>
                <a:gridCol w="1663076">
                  <a:extLst>
                    <a:ext uri="{9D8B030D-6E8A-4147-A177-3AD203B41FA5}">
                      <a16:colId xmlns:a16="http://schemas.microsoft.com/office/drawing/2014/main" val="2605838210"/>
                    </a:ext>
                  </a:extLst>
                </a:gridCol>
                <a:gridCol w="3883648">
                  <a:extLst>
                    <a:ext uri="{9D8B030D-6E8A-4147-A177-3AD203B41FA5}">
                      <a16:colId xmlns:a16="http://schemas.microsoft.com/office/drawing/2014/main" val="1110831575"/>
                    </a:ext>
                  </a:extLst>
                </a:gridCol>
                <a:gridCol w="2773362">
                  <a:extLst>
                    <a:ext uri="{9D8B030D-6E8A-4147-A177-3AD203B41FA5}">
                      <a16:colId xmlns:a16="http://schemas.microsoft.com/office/drawing/2014/main" val="1054237498"/>
                    </a:ext>
                  </a:extLst>
                </a:gridCol>
                <a:gridCol w="2773362">
                  <a:extLst>
                    <a:ext uri="{9D8B030D-6E8A-4147-A177-3AD203B41FA5}">
                      <a16:colId xmlns:a16="http://schemas.microsoft.com/office/drawing/2014/main" val="2552619271"/>
                    </a:ext>
                  </a:extLst>
                </a:gridCol>
              </a:tblGrid>
              <a:tr h="350520">
                <a:tc>
                  <a:txBody>
                    <a:bodyPr/>
                    <a:lstStyle/>
                    <a:p>
                      <a:pPr algn="ctr">
                        <a:buNone/>
                      </a:pPr>
                      <a:r>
                        <a:rPr lang="en-US" sz="1700" b="1" dirty="0">
                          <a:effectLst/>
                        </a:rPr>
                        <a:t>Character</a:t>
                      </a:r>
                    </a:p>
                  </a:txBody>
                  <a:tcPr anchor="ctr"/>
                </a:tc>
                <a:tc>
                  <a:txBody>
                    <a:bodyPr/>
                    <a:lstStyle/>
                    <a:p>
                      <a:pPr algn="l">
                        <a:buNone/>
                      </a:pPr>
                      <a:r>
                        <a:rPr lang="en-US" sz="1700" b="1" dirty="0">
                          <a:effectLst/>
                        </a:rPr>
                        <a:t>UTF-8 (Binary)</a:t>
                      </a:r>
                    </a:p>
                  </a:txBody>
                  <a:tcPr anchor="ctr"/>
                </a:tc>
                <a:tc>
                  <a:txBody>
                    <a:bodyPr/>
                    <a:lstStyle/>
                    <a:p>
                      <a:pPr algn="l">
                        <a:buNone/>
                      </a:pPr>
                      <a:r>
                        <a:rPr lang="en-US" sz="1700" b="1" dirty="0">
                          <a:effectLst/>
                        </a:rPr>
                        <a:t>Windows-1252 (Binary)</a:t>
                      </a:r>
                    </a:p>
                  </a:txBody>
                  <a:tcPr anchor="ctr"/>
                </a:tc>
                <a:tc>
                  <a:txBody>
                    <a:bodyPr/>
                    <a:lstStyle/>
                    <a:p>
                      <a:pPr algn="l">
                        <a:buNone/>
                      </a:pPr>
                      <a:r>
                        <a:rPr lang="en-US" sz="1700" b="1" dirty="0">
                          <a:effectLst/>
                        </a:rPr>
                        <a:t>UTF-16LE (Binary)</a:t>
                      </a:r>
                    </a:p>
                  </a:txBody>
                  <a:tcPr anchor="ctr"/>
                </a:tc>
                <a:extLst>
                  <a:ext uri="{0D108BD9-81ED-4DB2-BD59-A6C34878D82A}">
                    <a16:rowId xmlns:a16="http://schemas.microsoft.com/office/drawing/2014/main" val="2801382232"/>
                  </a:ext>
                </a:extLst>
              </a:tr>
              <a:tr h="350520">
                <a:tc>
                  <a:txBody>
                    <a:bodyPr/>
                    <a:lstStyle/>
                    <a:p>
                      <a:pPr algn="ctr">
                        <a:buNone/>
                      </a:pPr>
                      <a:r>
                        <a:rPr lang="en-US" sz="1700" dirty="0">
                          <a:effectLst/>
                          <a:latin typeface="Courier New" panose="02070309020205020404" pitchFamily="49" charset="0"/>
                          <a:cs typeface="Courier New" panose="02070309020205020404" pitchFamily="49" charset="0"/>
                        </a:rPr>
                        <a:t>A</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01000001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01000001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01000001 00000000</a:t>
                      </a:r>
                    </a:p>
                  </a:txBody>
                  <a:tcPr anchor="ctr"/>
                </a:tc>
                <a:extLst>
                  <a:ext uri="{0D108BD9-81ED-4DB2-BD59-A6C34878D82A}">
                    <a16:rowId xmlns:a16="http://schemas.microsoft.com/office/drawing/2014/main" val="2255597038"/>
                  </a:ext>
                </a:extLst>
              </a:tr>
              <a:tr h="350520">
                <a:tc>
                  <a:txBody>
                    <a:bodyPr/>
                    <a:lstStyle/>
                    <a:p>
                      <a:pPr algn="ctr">
                        <a:buNone/>
                      </a:pPr>
                      <a:r>
                        <a:rPr lang="en-US" sz="1700" dirty="0">
                          <a:effectLst/>
                          <a:latin typeface="Courier New" panose="02070309020205020404" pitchFamily="49" charset="0"/>
                          <a:cs typeface="Courier New" panose="02070309020205020404" pitchFamily="49" charset="0"/>
                        </a:rPr>
                        <a:t>é</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11000011 10101001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11101001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00101001 00000110</a:t>
                      </a:r>
                    </a:p>
                  </a:txBody>
                  <a:tcPr anchor="ctr"/>
                </a:tc>
                <a:extLst>
                  <a:ext uri="{0D108BD9-81ED-4DB2-BD59-A6C34878D82A}">
                    <a16:rowId xmlns:a16="http://schemas.microsoft.com/office/drawing/2014/main" val="696482109"/>
                  </a:ext>
                </a:extLst>
              </a:tr>
              <a:tr h="609600">
                <a:tc>
                  <a:txBody>
                    <a:bodyPr/>
                    <a:lstStyle/>
                    <a:p>
                      <a:pPr algn="ctr">
                        <a:buNone/>
                      </a:pPr>
                      <a:r>
                        <a:rPr lang="en-US" sz="1700">
                          <a:effectLst/>
                          <a:latin typeface="Courier New" panose="02070309020205020404" pitchFamily="49" charset="0"/>
                          <a:cs typeface="Courier New" panose="02070309020205020404" pitchFamily="49" charset="0"/>
                        </a:rPr>
                        <a:t>€</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11100010 10000010 10101100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10000000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00001010 00100000</a:t>
                      </a:r>
                    </a:p>
                  </a:txBody>
                  <a:tcPr anchor="ctr"/>
                </a:tc>
                <a:extLst>
                  <a:ext uri="{0D108BD9-81ED-4DB2-BD59-A6C34878D82A}">
                    <a16:rowId xmlns:a16="http://schemas.microsoft.com/office/drawing/2014/main" val="222122572"/>
                  </a:ext>
                </a:extLst>
              </a:tr>
              <a:tr h="609600">
                <a:tc>
                  <a:txBody>
                    <a:bodyPr/>
                    <a:lstStyle/>
                    <a:p>
                      <a:pPr algn="ctr">
                        <a:buNone/>
                      </a:pPr>
                      <a:r>
                        <a:rPr lang="en-US" sz="1700" dirty="0">
                          <a:effectLst/>
                          <a:latin typeface="Courier New" panose="02070309020205020404" pitchFamily="49" charset="0"/>
                          <a:cs typeface="Courier New" panose="02070309020205020404" pitchFamily="49" charset="0"/>
                        </a:rPr>
                        <a:t>"</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11100010 10000000 10011100</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10010100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01000000 01001111</a:t>
                      </a:r>
                    </a:p>
                  </a:txBody>
                  <a:tcPr anchor="ctr"/>
                </a:tc>
                <a:extLst>
                  <a:ext uri="{0D108BD9-81ED-4DB2-BD59-A6C34878D82A}">
                    <a16:rowId xmlns:a16="http://schemas.microsoft.com/office/drawing/2014/main" val="2434604165"/>
                  </a:ext>
                </a:extLst>
              </a:tr>
            </a:tbl>
          </a:graphicData>
        </a:graphic>
      </p:graphicFrame>
    </p:spTree>
    <p:extLst>
      <p:ext uri="{BB962C8B-B14F-4D97-AF65-F5344CB8AC3E}">
        <p14:creationId xmlns:p14="http://schemas.microsoft.com/office/powerpoint/2010/main" val="413071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F08CA-D795-8DD2-5A17-357D299D6CE4}"/>
              </a:ext>
            </a:extLst>
          </p:cNvPr>
          <p:cNvSpPr>
            <a:spLocks noGrp="1"/>
          </p:cNvSpPr>
          <p:nvPr>
            <p:ph type="title"/>
          </p:nvPr>
        </p:nvSpPr>
        <p:spPr/>
        <p:txBody>
          <a:bodyPr/>
          <a:lstStyle/>
          <a:p>
            <a:r>
              <a:rPr lang="en-US" dirty="0"/>
              <a:t>Base64 Encoding</a:t>
            </a:r>
          </a:p>
        </p:txBody>
      </p:sp>
      <p:sp>
        <p:nvSpPr>
          <p:cNvPr id="3" name="Content Placeholder 2">
            <a:extLst>
              <a:ext uri="{FF2B5EF4-FFF2-40B4-BE49-F238E27FC236}">
                <a16:creationId xmlns:a16="http://schemas.microsoft.com/office/drawing/2014/main" id="{4EFF6918-E014-7E4F-ADD7-66181B6A7BBC}"/>
              </a:ext>
            </a:extLst>
          </p:cNvPr>
          <p:cNvSpPr>
            <a:spLocks noGrp="1"/>
          </p:cNvSpPr>
          <p:nvPr>
            <p:ph idx="1"/>
          </p:nvPr>
        </p:nvSpPr>
        <p:spPr/>
        <p:txBody>
          <a:bodyPr/>
          <a:lstStyle/>
          <a:p>
            <a:r>
              <a:rPr lang="en-US" dirty="0"/>
              <a:t>Common HTTP encoding type</a:t>
            </a:r>
          </a:p>
          <a:p>
            <a:r>
              <a:rPr lang="en-US" dirty="0"/>
              <a:t>Converts every 6 bits into a character (2^6 options…)</a:t>
            </a:r>
          </a:p>
          <a:p>
            <a:pPr lvl="1"/>
            <a:r>
              <a:rPr lang="en-US" dirty="0"/>
              <a:t>A-Z</a:t>
            </a:r>
          </a:p>
          <a:p>
            <a:pPr lvl="1"/>
            <a:r>
              <a:rPr lang="en-US" dirty="0"/>
              <a:t>a-z</a:t>
            </a:r>
          </a:p>
          <a:p>
            <a:pPr lvl="1"/>
            <a:r>
              <a:rPr lang="en-US" dirty="0"/>
              <a:t>0-9</a:t>
            </a:r>
          </a:p>
          <a:p>
            <a:pPr lvl="1"/>
            <a:r>
              <a:rPr lang="en-US" dirty="0"/>
              <a:t>/+</a:t>
            </a:r>
          </a:p>
          <a:p>
            <a:r>
              <a:rPr lang="en-US" dirty="0"/>
              <a:t>Every 3 bytes </a:t>
            </a:r>
            <a:r>
              <a:rPr lang="en-US" dirty="0">
                <a:sym typeface="Wingdings" panose="05000000000000000000" pitchFamily="2" charset="2"/>
              </a:rPr>
              <a:t> 4 characters</a:t>
            </a:r>
            <a:endParaRPr lang="en-US" dirty="0"/>
          </a:p>
        </p:txBody>
      </p:sp>
      <p:sp>
        <p:nvSpPr>
          <p:cNvPr id="4" name="Date Placeholder 3">
            <a:extLst>
              <a:ext uri="{FF2B5EF4-FFF2-40B4-BE49-F238E27FC236}">
                <a16:creationId xmlns:a16="http://schemas.microsoft.com/office/drawing/2014/main" id="{5739DEC8-5A35-75D5-9638-F56804F12339}"/>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CE6EEC28-5E34-E95E-9F52-6396E99760B3}"/>
              </a:ext>
            </a:extLst>
          </p:cNvPr>
          <p:cNvSpPr>
            <a:spLocks noGrp="1"/>
          </p:cNvSpPr>
          <p:nvPr>
            <p:ph type="sldNum" sz="quarter" idx="11"/>
          </p:nvPr>
        </p:nvSpPr>
        <p:spPr/>
        <p:txBody>
          <a:bodyPr/>
          <a:lstStyle/>
          <a:p>
            <a:fld id="{64E5BE4B-2FBF-4174-9E62-85FAD1CB43A6}" type="slidenum">
              <a:rPr lang="en-US" smtClean="0"/>
              <a:pPr/>
              <a:t>10</a:t>
            </a:fld>
            <a:endParaRPr lang="en-US"/>
          </a:p>
        </p:txBody>
      </p:sp>
    </p:spTree>
    <p:extLst>
      <p:ext uri="{BB962C8B-B14F-4D97-AF65-F5344CB8AC3E}">
        <p14:creationId xmlns:p14="http://schemas.microsoft.com/office/powerpoint/2010/main" val="3166557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FF68-343E-F5F9-5A0C-85A025592E37}"/>
              </a:ext>
            </a:extLst>
          </p:cNvPr>
          <p:cNvSpPr>
            <a:spLocks noGrp="1"/>
          </p:cNvSpPr>
          <p:nvPr>
            <p:ph type="title"/>
          </p:nvPr>
        </p:nvSpPr>
        <p:spPr/>
        <p:txBody>
          <a:bodyPr/>
          <a:lstStyle/>
          <a:p>
            <a:r>
              <a:rPr lang="en-US" dirty="0"/>
              <a:t>Python Base64</a:t>
            </a:r>
          </a:p>
        </p:txBody>
      </p:sp>
      <p:sp>
        <p:nvSpPr>
          <p:cNvPr id="3" name="Content Placeholder 2">
            <a:extLst>
              <a:ext uri="{FF2B5EF4-FFF2-40B4-BE49-F238E27FC236}">
                <a16:creationId xmlns:a16="http://schemas.microsoft.com/office/drawing/2014/main" id="{3F545E95-C6A3-0E44-4BBF-21D1BEBD1591}"/>
              </a:ext>
            </a:extLst>
          </p:cNvPr>
          <p:cNvSpPr>
            <a:spLocks noGrp="1"/>
          </p:cNvSpPr>
          <p:nvPr>
            <p:ph idx="1"/>
          </p:nvPr>
        </p:nvSpPr>
        <p:spPr/>
        <p:txBody>
          <a:bodyPr/>
          <a:lstStyle/>
          <a:p>
            <a:r>
              <a:rPr lang="en-US" dirty="0"/>
              <a:t>Demo converting an image and some text</a:t>
            </a:r>
          </a:p>
        </p:txBody>
      </p:sp>
      <p:sp>
        <p:nvSpPr>
          <p:cNvPr id="4" name="Date Placeholder 3">
            <a:extLst>
              <a:ext uri="{FF2B5EF4-FFF2-40B4-BE49-F238E27FC236}">
                <a16:creationId xmlns:a16="http://schemas.microsoft.com/office/drawing/2014/main" id="{E72DAAB4-2CBE-DFF4-64DD-920615A57A26}"/>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7C0D0253-A895-1EE1-2013-EFC76909B4BD}"/>
              </a:ext>
            </a:extLst>
          </p:cNvPr>
          <p:cNvSpPr>
            <a:spLocks noGrp="1"/>
          </p:cNvSpPr>
          <p:nvPr>
            <p:ph type="sldNum" sz="quarter" idx="11"/>
          </p:nvPr>
        </p:nvSpPr>
        <p:spPr/>
        <p:txBody>
          <a:bodyPr/>
          <a:lstStyle/>
          <a:p>
            <a:fld id="{64E5BE4B-2FBF-4174-9E62-85FAD1CB43A6}" type="slidenum">
              <a:rPr lang="en-US" smtClean="0"/>
              <a:pPr/>
              <a:t>11</a:t>
            </a:fld>
            <a:endParaRPr lang="en-US"/>
          </a:p>
        </p:txBody>
      </p:sp>
    </p:spTree>
    <p:extLst>
      <p:ext uri="{BB962C8B-B14F-4D97-AF65-F5344CB8AC3E}">
        <p14:creationId xmlns:p14="http://schemas.microsoft.com/office/powerpoint/2010/main" val="2626205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8906434-F997-27C3-919F-CE7837F349C1}"/>
              </a:ext>
            </a:extLst>
          </p:cNvPr>
          <p:cNvSpPr>
            <a:spLocks noGrp="1"/>
          </p:cNvSpPr>
          <p:nvPr>
            <p:ph type="title"/>
          </p:nvPr>
        </p:nvSpPr>
        <p:spPr/>
        <p:txBody>
          <a:bodyPr/>
          <a:lstStyle/>
          <a:p>
            <a:r>
              <a:rPr lang="en-US" dirty="0"/>
              <a:t>Hands-On #1</a:t>
            </a:r>
          </a:p>
        </p:txBody>
      </p:sp>
      <p:sp>
        <p:nvSpPr>
          <p:cNvPr id="7" name="Text Placeholder 6">
            <a:extLst>
              <a:ext uri="{FF2B5EF4-FFF2-40B4-BE49-F238E27FC236}">
                <a16:creationId xmlns:a16="http://schemas.microsoft.com/office/drawing/2014/main" id="{BAC52DAE-CBD8-631B-0394-8D79FD504D4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D09924F4-6F02-D811-576D-4B2CB7D71CDF}"/>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CA5BB809-B6F6-9BC1-E54D-7C07B20D75D3}"/>
              </a:ext>
            </a:extLst>
          </p:cNvPr>
          <p:cNvSpPr>
            <a:spLocks noGrp="1"/>
          </p:cNvSpPr>
          <p:nvPr>
            <p:ph type="sldNum" sz="quarter" idx="12"/>
          </p:nvPr>
        </p:nvSpPr>
        <p:spPr/>
        <p:txBody>
          <a:bodyPr/>
          <a:lstStyle/>
          <a:p>
            <a:fld id="{64E5BE4B-2FBF-4174-9E62-85FAD1CB43A6}" type="slidenum">
              <a:rPr lang="en-US" smtClean="0"/>
              <a:pPr/>
              <a:t>12</a:t>
            </a:fld>
            <a:endParaRPr lang="en-US"/>
          </a:p>
        </p:txBody>
      </p:sp>
    </p:spTree>
    <p:extLst>
      <p:ext uri="{BB962C8B-B14F-4D97-AF65-F5344CB8AC3E}">
        <p14:creationId xmlns:p14="http://schemas.microsoft.com/office/powerpoint/2010/main" val="3674312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60031-D8A1-AFDB-9E76-43EE5E2AEA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A99A7FE-0FD6-1D55-7B5D-64F57EAE18A9}"/>
              </a:ext>
            </a:extLst>
          </p:cNvPr>
          <p:cNvSpPr>
            <a:spLocks noGrp="1"/>
          </p:cNvSpPr>
          <p:nvPr>
            <p:ph type="title"/>
          </p:nvPr>
        </p:nvSpPr>
        <p:spPr>
          <a:xfrm>
            <a:off x="839788" y="365125"/>
            <a:ext cx="10515600" cy="1325563"/>
          </a:xfrm>
        </p:spPr>
        <p:txBody>
          <a:bodyPr/>
          <a:lstStyle/>
          <a:p>
            <a:r>
              <a:rPr lang="en-US" dirty="0"/>
              <a:t>API Terms</a:t>
            </a:r>
          </a:p>
        </p:txBody>
      </p:sp>
      <p:sp>
        <p:nvSpPr>
          <p:cNvPr id="5" name="Text Placeholder 4">
            <a:extLst>
              <a:ext uri="{FF2B5EF4-FFF2-40B4-BE49-F238E27FC236}">
                <a16:creationId xmlns:a16="http://schemas.microsoft.com/office/drawing/2014/main" id="{6F7A2A1E-639A-3D2A-DC66-A1A2DABA83D1}"/>
              </a:ext>
            </a:extLst>
          </p:cNvPr>
          <p:cNvSpPr>
            <a:spLocks noGrp="1"/>
          </p:cNvSpPr>
          <p:nvPr>
            <p:ph type="body" idx="1"/>
          </p:nvPr>
        </p:nvSpPr>
        <p:spPr>
          <a:xfrm>
            <a:off x="839788" y="1681163"/>
            <a:ext cx="5157787" cy="823912"/>
          </a:xfrm>
        </p:spPr>
        <p:txBody>
          <a:bodyPr/>
          <a:lstStyle/>
          <a:p>
            <a:r>
              <a:rPr lang="en-US" dirty="0"/>
              <a:t>Request</a:t>
            </a:r>
          </a:p>
        </p:txBody>
      </p:sp>
      <p:sp>
        <p:nvSpPr>
          <p:cNvPr id="6" name="Content Placeholder 5">
            <a:extLst>
              <a:ext uri="{FF2B5EF4-FFF2-40B4-BE49-F238E27FC236}">
                <a16:creationId xmlns:a16="http://schemas.microsoft.com/office/drawing/2014/main" id="{0A6FD7DB-0070-9216-4EC2-A41C584EA58A}"/>
              </a:ext>
            </a:extLst>
          </p:cNvPr>
          <p:cNvSpPr>
            <a:spLocks noGrp="1"/>
          </p:cNvSpPr>
          <p:nvPr>
            <p:ph sz="half" idx="2"/>
          </p:nvPr>
        </p:nvSpPr>
        <p:spPr>
          <a:xfrm>
            <a:off x="839788" y="2505075"/>
            <a:ext cx="10512424" cy="3684588"/>
          </a:xfrm>
        </p:spPr>
        <p:txBody>
          <a:bodyPr>
            <a:normAutofit/>
          </a:bodyPr>
          <a:lstStyle/>
          <a:p>
            <a:pPr marL="0" indent="0">
              <a:buNone/>
            </a:pPr>
            <a:r>
              <a:rPr lang="en-US" dirty="0">
                <a:latin typeface="Courier New" panose="02070309020205020404" pitchFamily="49" charset="0"/>
                <a:cs typeface="Courier New" panose="02070309020205020404" pitchFamily="49" charset="0"/>
              </a:rPr>
              <a:t>GET /users/{user}/</a:t>
            </a:r>
            <a:r>
              <a:rPr lang="en-US" dirty="0" err="1">
                <a:latin typeface="Courier New" panose="02070309020205020404" pitchFamily="49" charset="0"/>
                <a:cs typeface="Courier New" panose="02070309020205020404" pitchFamily="49" charset="0"/>
              </a:rPr>
              <a:t>playlists?sort</a:t>
            </a:r>
            <a:r>
              <a:rPr lang="en-US" dirty="0">
                <a:latin typeface="Courier New" panose="02070309020205020404" pitchFamily="49" charset="0"/>
                <a:cs typeface="Courier New" panose="02070309020205020404" pitchFamily="49" charset="0"/>
              </a:rPr>
              <a:t>={direction} HTTP/1.1\r\n</a:t>
            </a:r>
          </a:p>
          <a:p>
            <a:pPr marL="0" indent="0">
              <a:buNone/>
            </a:pPr>
            <a:r>
              <a:rPr lang="en-US" dirty="0">
                <a:latin typeface="Courier New" panose="02070309020205020404" pitchFamily="49" charset="0"/>
                <a:cs typeface="Courier New" panose="02070309020205020404" pitchFamily="49" charset="0"/>
              </a:rPr>
              <a:t>Host: example.com\r\n</a:t>
            </a:r>
          </a:p>
          <a:p>
            <a:pPr marL="0" indent="0">
              <a:buNone/>
            </a:pPr>
            <a:r>
              <a:rPr lang="en-US" dirty="0">
                <a:latin typeface="Courier New" panose="02070309020205020404" pitchFamily="49" charset="0"/>
                <a:cs typeface="Courier New" panose="02070309020205020404" pitchFamily="49" charset="0"/>
              </a:rPr>
              <a:t>Authentication: "Bearer 1234deadb33f"</a:t>
            </a:r>
          </a:p>
          <a:p>
            <a:pPr marL="0" indent="0">
              <a:buNone/>
            </a:pPr>
            <a:r>
              <a:rPr lang="en-US" dirty="0">
                <a:latin typeface="Courier New" panose="02070309020205020404" pitchFamily="49" charset="0"/>
                <a:cs typeface="Courier New" panose="02070309020205020404" pitchFamily="49" charset="0"/>
              </a:rPr>
              <a:t>Accept: */*\r\n</a:t>
            </a:r>
          </a:p>
          <a:p>
            <a:pPr marL="0" indent="0">
              <a:buNone/>
            </a:pPr>
            <a:r>
              <a:rPr lang="en-US" dirty="0">
                <a:latin typeface="Courier New" panose="02070309020205020404" pitchFamily="49" charset="0"/>
                <a:cs typeface="Courier New" panose="02070309020205020404" pitchFamily="49" charset="0"/>
              </a:rPr>
              <a:t>\r\n</a:t>
            </a:r>
          </a:p>
          <a:p>
            <a:pPr marL="0" indent="0">
              <a:buNone/>
            </a:pPr>
            <a:r>
              <a:rPr lang="en-US" dirty="0">
                <a:latin typeface="Courier New" panose="02070309020205020404" pitchFamily="49" charset="0"/>
                <a:cs typeface="Courier New" panose="02070309020205020404" pitchFamily="49" charset="0"/>
              </a:rPr>
              <a:t>{"genre": "rock"}\r\n</a:t>
            </a:r>
          </a:p>
        </p:txBody>
      </p:sp>
      <p:sp>
        <p:nvSpPr>
          <p:cNvPr id="9" name="Rectangle 8">
            <a:extLst>
              <a:ext uri="{FF2B5EF4-FFF2-40B4-BE49-F238E27FC236}">
                <a16:creationId xmlns:a16="http://schemas.microsoft.com/office/drawing/2014/main" id="{454316F9-3DCB-C2BB-D196-DF20A41BC0C8}"/>
              </a:ext>
            </a:extLst>
          </p:cNvPr>
          <p:cNvSpPr/>
          <p:nvPr/>
        </p:nvSpPr>
        <p:spPr>
          <a:xfrm>
            <a:off x="1579853" y="2463419"/>
            <a:ext cx="416985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0DDAB313-61F8-F1E1-0943-0A5CBD95E544}"/>
              </a:ext>
            </a:extLst>
          </p:cNvPr>
          <p:cNvSpPr txBox="1"/>
          <p:nvPr/>
        </p:nvSpPr>
        <p:spPr>
          <a:xfrm>
            <a:off x="5997575" y="266440"/>
            <a:ext cx="3734382" cy="1384995"/>
          </a:xfrm>
          <a:prstGeom prst="rect">
            <a:avLst/>
          </a:prstGeom>
          <a:noFill/>
        </p:spPr>
        <p:txBody>
          <a:bodyPr wrap="square" rtlCol="0">
            <a:spAutoFit/>
          </a:bodyPr>
          <a:lstStyle/>
          <a:p>
            <a:r>
              <a:rPr lang="en-US" sz="2800" dirty="0">
                <a:solidFill>
                  <a:schemeClr val="accent2"/>
                </a:solidFill>
              </a:rPr>
              <a:t>Path</a:t>
            </a:r>
          </a:p>
          <a:p>
            <a:r>
              <a:rPr lang="en-US" sz="2800" dirty="0">
                <a:solidFill>
                  <a:schemeClr val="accent4"/>
                </a:solidFill>
              </a:rPr>
              <a:t>Query String</a:t>
            </a:r>
          </a:p>
          <a:p>
            <a:r>
              <a:rPr lang="en-US" sz="2800" dirty="0">
                <a:solidFill>
                  <a:schemeClr val="accent6"/>
                </a:solidFill>
              </a:rPr>
              <a:t>Body</a:t>
            </a:r>
          </a:p>
        </p:txBody>
      </p:sp>
      <p:sp>
        <p:nvSpPr>
          <p:cNvPr id="12" name="Rectangle 11">
            <a:extLst>
              <a:ext uri="{FF2B5EF4-FFF2-40B4-BE49-F238E27FC236}">
                <a16:creationId xmlns:a16="http://schemas.microsoft.com/office/drawing/2014/main" id="{16AA6916-796C-D3A1-77CC-0554582087C7}"/>
              </a:ext>
            </a:extLst>
          </p:cNvPr>
          <p:cNvSpPr/>
          <p:nvPr/>
        </p:nvSpPr>
        <p:spPr>
          <a:xfrm>
            <a:off x="5946336" y="2463420"/>
            <a:ext cx="2920426" cy="451786"/>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46990E5-ED21-D729-4E7B-12F8F55A8DAB}"/>
              </a:ext>
            </a:extLst>
          </p:cNvPr>
          <p:cNvSpPr/>
          <p:nvPr/>
        </p:nvSpPr>
        <p:spPr>
          <a:xfrm>
            <a:off x="799843" y="4812520"/>
            <a:ext cx="3149790"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14651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12" grpId="0" animBg="1"/>
      <p:bldP spid="14"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186578-1CC0-B5DF-151B-592305F58B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E60273-FE3B-1138-04F9-B3122CECEC99}"/>
              </a:ext>
            </a:extLst>
          </p:cNvPr>
          <p:cNvSpPr>
            <a:spLocks noGrp="1"/>
          </p:cNvSpPr>
          <p:nvPr>
            <p:ph type="title"/>
          </p:nvPr>
        </p:nvSpPr>
        <p:spPr/>
        <p:txBody>
          <a:bodyPr/>
          <a:lstStyle/>
          <a:p>
            <a:r>
              <a:rPr lang="en-US" dirty="0"/>
              <a:t>Reading API Docs</a:t>
            </a:r>
          </a:p>
        </p:txBody>
      </p:sp>
      <p:sp>
        <p:nvSpPr>
          <p:cNvPr id="3" name="Content Placeholder 2">
            <a:extLst>
              <a:ext uri="{FF2B5EF4-FFF2-40B4-BE49-F238E27FC236}">
                <a16:creationId xmlns:a16="http://schemas.microsoft.com/office/drawing/2014/main" id="{201CFD5C-421C-65DD-83BA-CA41D7ED8DA8}"/>
              </a:ext>
            </a:extLst>
          </p:cNvPr>
          <p:cNvSpPr>
            <a:spLocks noGrp="1"/>
          </p:cNvSpPr>
          <p:nvPr>
            <p:ph idx="1"/>
          </p:nvPr>
        </p:nvSpPr>
        <p:spPr/>
        <p:txBody>
          <a:bodyPr/>
          <a:lstStyle/>
          <a:p>
            <a:r>
              <a:rPr lang="en-US" dirty="0"/>
              <a:t>PayPal example</a:t>
            </a:r>
          </a:p>
        </p:txBody>
      </p:sp>
      <p:sp>
        <p:nvSpPr>
          <p:cNvPr id="4" name="Date Placeholder 3">
            <a:extLst>
              <a:ext uri="{FF2B5EF4-FFF2-40B4-BE49-F238E27FC236}">
                <a16:creationId xmlns:a16="http://schemas.microsoft.com/office/drawing/2014/main" id="{F28F99AA-E72F-EC8E-8676-7CDBDE97CBD8}"/>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A9E51041-96C6-2AEF-A8DF-D0613E8714B7}"/>
              </a:ext>
            </a:extLst>
          </p:cNvPr>
          <p:cNvSpPr>
            <a:spLocks noGrp="1"/>
          </p:cNvSpPr>
          <p:nvPr>
            <p:ph type="sldNum" sz="quarter" idx="11"/>
          </p:nvPr>
        </p:nvSpPr>
        <p:spPr/>
        <p:txBody>
          <a:bodyPr/>
          <a:lstStyle/>
          <a:p>
            <a:fld id="{64E5BE4B-2FBF-4174-9E62-85FAD1CB43A6}" type="slidenum">
              <a:rPr lang="en-US" smtClean="0"/>
              <a:pPr/>
              <a:t>14</a:t>
            </a:fld>
            <a:endParaRPr lang="en-US"/>
          </a:p>
        </p:txBody>
      </p:sp>
    </p:spTree>
    <p:extLst>
      <p:ext uri="{BB962C8B-B14F-4D97-AF65-F5344CB8AC3E}">
        <p14:creationId xmlns:p14="http://schemas.microsoft.com/office/powerpoint/2010/main" val="20459845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E4909E-0777-2269-30A3-E18FCC6D72AD}"/>
              </a:ext>
            </a:extLst>
          </p:cNvPr>
          <p:cNvSpPr>
            <a:spLocks noGrp="1"/>
          </p:cNvSpPr>
          <p:nvPr>
            <p:ph type="title"/>
          </p:nvPr>
        </p:nvSpPr>
        <p:spPr/>
        <p:txBody>
          <a:bodyPr/>
          <a:lstStyle/>
          <a:p>
            <a:r>
              <a:rPr lang="en-US" dirty="0"/>
              <a:t>Reading API Docs</a:t>
            </a:r>
          </a:p>
        </p:txBody>
      </p:sp>
      <p:sp>
        <p:nvSpPr>
          <p:cNvPr id="3" name="Content Placeholder 2">
            <a:extLst>
              <a:ext uri="{FF2B5EF4-FFF2-40B4-BE49-F238E27FC236}">
                <a16:creationId xmlns:a16="http://schemas.microsoft.com/office/drawing/2014/main" id="{0621767E-A648-7020-1001-2A53FE820F74}"/>
              </a:ext>
            </a:extLst>
          </p:cNvPr>
          <p:cNvSpPr>
            <a:spLocks noGrp="1"/>
          </p:cNvSpPr>
          <p:nvPr>
            <p:ph idx="1"/>
          </p:nvPr>
        </p:nvSpPr>
        <p:spPr/>
        <p:txBody>
          <a:bodyPr/>
          <a:lstStyle/>
          <a:p>
            <a:r>
              <a:rPr lang="en-US" dirty="0"/>
              <a:t>In groups:</a:t>
            </a:r>
          </a:p>
          <a:p>
            <a:pPr lvl="1"/>
            <a:r>
              <a:rPr lang="en-US" dirty="0"/>
              <a:t>Endpoint, e.g. </a:t>
            </a:r>
            <a:r>
              <a:rPr lang="en-US" dirty="0">
                <a:hlinkClick r:id="rId2"/>
              </a:rPr>
              <a:t>https://api.github.com/repos/{owner}/{repo}/commits</a:t>
            </a:r>
            <a:endParaRPr lang="en-US" dirty="0"/>
          </a:p>
          <a:p>
            <a:pPr lvl="1"/>
            <a:r>
              <a:rPr lang="en-US" dirty="0"/>
              <a:t>Required parameters (path, body, or query string?)</a:t>
            </a:r>
          </a:p>
          <a:p>
            <a:pPr lvl="1"/>
            <a:r>
              <a:rPr lang="en-US" dirty="0"/>
              <a:t>Optional parameters (path, body, or query string?)</a:t>
            </a:r>
          </a:p>
          <a:p>
            <a:pPr lvl="1"/>
            <a:r>
              <a:rPr lang="en-US" dirty="0"/>
              <a:t>How do they handle multiple responses (e.g. 1000 commits)?</a:t>
            </a:r>
          </a:p>
          <a:p>
            <a:r>
              <a:rPr lang="en-US" dirty="0"/>
              <a:t>Groups:</a:t>
            </a:r>
          </a:p>
          <a:p>
            <a:pPr lvl="1"/>
            <a:r>
              <a:rPr lang="en-US" dirty="0"/>
              <a:t>Compare two commits in GitHub</a:t>
            </a:r>
          </a:p>
          <a:p>
            <a:pPr lvl="1"/>
            <a:r>
              <a:rPr lang="en-US" dirty="0"/>
              <a:t>Plan a route using Google Maps</a:t>
            </a:r>
          </a:p>
          <a:p>
            <a:pPr lvl="1"/>
            <a:r>
              <a:rPr lang="en-US" dirty="0"/>
              <a:t>See my abandoned carts in Shopify</a:t>
            </a:r>
          </a:p>
          <a:p>
            <a:pPr lvl="1"/>
            <a:r>
              <a:rPr lang="en-US" dirty="0"/>
              <a:t>Create a new Spotify playlist</a:t>
            </a:r>
          </a:p>
          <a:p>
            <a:pPr lvl="1"/>
            <a:endParaRPr lang="en-US" dirty="0"/>
          </a:p>
        </p:txBody>
      </p:sp>
      <p:sp>
        <p:nvSpPr>
          <p:cNvPr id="4" name="Date Placeholder 3">
            <a:extLst>
              <a:ext uri="{FF2B5EF4-FFF2-40B4-BE49-F238E27FC236}">
                <a16:creationId xmlns:a16="http://schemas.microsoft.com/office/drawing/2014/main" id="{1F009396-804B-8C57-3DD3-80E2F254CC02}"/>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F35BF542-8CEA-C17D-1DC5-D67DFFAD4C67}"/>
              </a:ext>
            </a:extLst>
          </p:cNvPr>
          <p:cNvSpPr>
            <a:spLocks noGrp="1"/>
          </p:cNvSpPr>
          <p:nvPr>
            <p:ph type="sldNum" sz="quarter" idx="11"/>
          </p:nvPr>
        </p:nvSpPr>
        <p:spPr/>
        <p:txBody>
          <a:bodyPr/>
          <a:lstStyle/>
          <a:p>
            <a:fld id="{64E5BE4B-2FBF-4174-9E62-85FAD1CB43A6}" type="slidenum">
              <a:rPr lang="en-US" smtClean="0"/>
              <a:pPr/>
              <a:t>15</a:t>
            </a:fld>
            <a:endParaRPr lang="en-US"/>
          </a:p>
        </p:txBody>
      </p:sp>
    </p:spTree>
    <p:extLst>
      <p:ext uri="{BB962C8B-B14F-4D97-AF65-F5344CB8AC3E}">
        <p14:creationId xmlns:p14="http://schemas.microsoft.com/office/powerpoint/2010/main" val="2464039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83039-C858-2C3F-18AB-3CC2B6756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3A3F6-B67E-54C5-6D85-E9992D53577A}"/>
              </a:ext>
            </a:extLst>
          </p:cNvPr>
          <p:cNvSpPr>
            <a:spLocks noGrp="1"/>
          </p:cNvSpPr>
          <p:nvPr>
            <p:ph type="title"/>
          </p:nvPr>
        </p:nvSpPr>
        <p:spPr>
          <a:xfrm>
            <a:off x="548640" y="411481"/>
            <a:ext cx="8231293" cy="914400"/>
          </a:xfrm>
        </p:spPr>
        <p:txBody>
          <a:bodyPr/>
          <a:lstStyle/>
          <a:p>
            <a:r>
              <a:rPr lang="en-US" dirty="0"/>
              <a:t>Authentication</a:t>
            </a:r>
          </a:p>
        </p:txBody>
      </p:sp>
      <p:sp>
        <p:nvSpPr>
          <p:cNvPr id="3" name="Content Placeholder 2">
            <a:extLst>
              <a:ext uri="{FF2B5EF4-FFF2-40B4-BE49-F238E27FC236}">
                <a16:creationId xmlns:a16="http://schemas.microsoft.com/office/drawing/2014/main" id="{98819479-A671-7093-4EDE-E094D956DBB4}"/>
              </a:ext>
            </a:extLst>
          </p:cNvPr>
          <p:cNvSpPr>
            <a:spLocks noGrp="1"/>
          </p:cNvSpPr>
          <p:nvPr>
            <p:ph idx="1"/>
          </p:nvPr>
        </p:nvSpPr>
        <p:spPr>
          <a:xfrm>
            <a:off x="548640" y="1600199"/>
            <a:ext cx="11024925" cy="4572000"/>
          </a:xfrm>
        </p:spPr>
        <p:txBody>
          <a:bodyPr/>
          <a:lstStyle/>
          <a:p>
            <a:r>
              <a:rPr lang="en-US" dirty="0"/>
              <a:t>Authorization vs Authentication?</a:t>
            </a:r>
          </a:p>
          <a:p>
            <a:r>
              <a:rPr lang="en-US" dirty="0"/>
              <a:t>How does a stateless protocol handle authentication?</a:t>
            </a:r>
          </a:p>
        </p:txBody>
      </p:sp>
    </p:spTree>
    <p:extLst>
      <p:ext uri="{BB962C8B-B14F-4D97-AF65-F5344CB8AC3E}">
        <p14:creationId xmlns:p14="http://schemas.microsoft.com/office/powerpoint/2010/main" val="41459892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591C8-6A58-E40E-FED1-94B89E967D7A}"/>
              </a:ext>
            </a:extLst>
          </p:cNvPr>
          <p:cNvSpPr>
            <a:spLocks noGrp="1"/>
          </p:cNvSpPr>
          <p:nvPr>
            <p:ph type="title"/>
          </p:nvPr>
        </p:nvSpPr>
        <p:spPr/>
        <p:txBody>
          <a:bodyPr/>
          <a:lstStyle/>
          <a:p>
            <a:r>
              <a:rPr lang="en-US" dirty="0"/>
              <a:t>Basic Authentication</a:t>
            </a:r>
          </a:p>
        </p:txBody>
      </p:sp>
      <p:sp>
        <p:nvSpPr>
          <p:cNvPr id="4" name="Date Placeholder 3">
            <a:extLst>
              <a:ext uri="{FF2B5EF4-FFF2-40B4-BE49-F238E27FC236}">
                <a16:creationId xmlns:a16="http://schemas.microsoft.com/office/drawing/2014/main" id="{1AF0D519-2DAF-50D0-D67D-A7339A2417E3}"/>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51E82177-F9BA-551A-7FD4-EE526677556D}"/>
              </a:ext>
            </a:extLst>
          </p:cNvPr>
          <p:cNvSpPr>
            <a:spLocks noGrp="1"/>
          </p:cNvSpPr>
          <p:nvPr>
            <p:ph type="sldNum" sz="quarter" idx="11"/>
          </p:nvPr>
        </p:nvSpPr>
        <p:spPr/>
        <p:txBody>
          <a:bodyPr/>
          <a:lstStyle/>
          <a:p>
            <a:fld id="{64E5BE4B-2FBF-4174-9E62-85FAD1CB43A6}" type="slidenum">
              <a:rPr lang="en-US" smtClean="0"/>
              <a:pPr/>
              <a:t>17</a:t>
            </a:fld>
            <a:endParaRPr lang="en-US"/>
          </a:p>
        </p:txBody>
      </p:sp>
      <p:pic>
        <p:nvPicPr>
          <p:cNvPr id="9" name="Content Placeholder 8" descr="Basic Authentication in ASP.NET Web API | Microsoft Learn">
            <a:extLst>
              <a:ext uri="{FF2B5EF4-FFF2-40B4-BE49-F238E27FC236}">
                <a16:creationId xmlns:a16="http://schemas.microsoft.com/office/drawing/2014/main" id="{60AF7BFE-693A-B09F-DAAF-A592C0D5C41E}"/>
              </a:ext>
            </a:extLst>
          </p:cNvPr>
          <p:cNvPicPr>
            <a:picLocks noGrp="1" noChangeAspect="1"/>
          </p:cNvPicPr>
          <p:nvPr>
            <p:ph idx="1"/>
          </p:nvPr>
        </p:nvPicPr>
        <p:blipFill>
          <a:blip r:embed="rId3"/>
          <a:stretch>
            <a:fillRect/>
          </a:stretch>
        </p:blipFill>
        <p:spPr>
          <a:xfrm>
            <a:off x="2491874" y="1267797"/>
            <a:ext cx="7208252" cy="3117493"/>
          </a:xfrm>
          <a:prstGeom prst="rect">
            <a:avLst/>
          </a:prstGeom>
        </p:spPr>
      </p:pic>
      <p:sp>
        <p:nvSpPr>
          <p:cNvPr id="10" name="TextBox 9">
            <a:extLst>
              <a:ext uri="{FF2B5EF4-FFF2-40B4-BE49-F238E27FC236}">
                <a16:creationId xmlns:a16="http://schemas.microsoft.com/office/drawing/2014/main" id="{276CF770-DEF0-59F3-36A0-2AA911530487}"/>
              </a:ext>
            </a:extLst>
          </p:cNvPr>
          <p:cNvSpPr txBox="1"/>
          <p:nvPr/>
        </p:nvSpPr>
        <p:spPr>
          <a:xfrm>
            <a:off x="1666028" y="5203941"/>
            <a:ext cx="2341056" cy="339908"/>
          </a:xfrm>
          <a:prstGeom prst="rect">
            <a:avLst/>
          </a:prstGeom>
          <a:noFill/>
        </p:spPr>
        <p:txBody>
          <a:bodyPr wrap="square" lIns="0" tIns="0" rIns="0" bIns="0" rtlCol="0">
            <a:noAutofit/>
          </a:bodyPr>
          <a:lstStyle/>
          <a:p>
            <a:pPr>
              <a:lnSpc>
                <a:spcPct val="95000"/>
              </a:lnSpc>
              <a:spcBef>
                <a:spcPts val="1000"/>
              </a:spcBef>
              <a:buSzPct val="100000"/>
            </a:pPr>
            <a:r>
              <a:rPr lang="en-US" sz="1700" dirty="0" err="1">
                <a:latin typeface="Courier New" panose="02070309020205020404" pitchFamily="49" charset="0"/>
                <a:cs typeface="Courier New" panose="02070309020205020404" pitchFamily="49" charset="0"/>
              </a:rPr>
              <a:t>username:password</a:t>
            </a:r>
            <a:endParaRPr lang="en-US" sz="1700" dirty="0">
              <a:latin typeface="Courier New" panose="02070309020205020404" pitchFamily="49" charset="0"/>
              <a:cs typeface="Courier New" panose="02070309020205020404" pitchFamily="49" charset="0"/>
            </a:endParaRPr>
          </a:p>
        </p:txBody>
      </p:sp>
      <p:cxnSp>
        <p:nvCxnSpPr>
          <p:cNvPr id="12" name="Straight Arrow Connector 11">
            <a:extLst>
              <a:ext uri="{FF2B5EF4-FFF2-40B4-BE49-F238E27FC236}">
                <a16:creationId xmlns:a16="http://schemas.microsoft.com/office/drawing/2014/main" id="{4C1A1A80-326A-D2C9-5E42-B9E51223CFEA}"/>
              </a:ext>
            </a:extLst>
          </p:cNvPr>
          <p:cNvCxnSpPr/>
          <p:nvPr/>
        </p:nvCxnSpPr>
        <p:spPr>
          <a:xfrm>
            <a:off x="4064532" y="5337990"/>
            <a:ext cx="612792" cy="0"/>
          </a:xfrm>
          <a:prstGeom prst="straightConnector1">
            <a:avLst/>
          </a:prstGeom>
          <a:ln w="12700" cap="flat">
            <a:miter/>
            <a:tailEnd type="triangle"/>
          </a:ln>
        </p:spPr>
        <p:style>
          <a:lnRef idx="1">
            <a:schemeClr val="accent1"/>
          </a:lnRef>
          <a:fillRef idx="0">
            <a:schemeClr val="accent1"/>
          </a:fillRef>
          <a:effectRef idx="0">
            <a:srgbClr val="000000"/>
          </a:effectRef>
          <a:fontRef idx="minor">
            <a:srgbClr val="FFFFFF"/>
          </a:fontRef>
        </p:style>
      </p:cxnSp>
      <p:sp>
        <p:nvSpPr>
          <p:cNvPr id="13" name="TextBox 12">
            <a:extLst>
              <a:ext uri="{FF2B5EF4-FFF2-40B4-BE49-F238E27FC236}">
                <a16:creationId xmlns:a16="http://schemas.microsoft.com/office/drawing/2014/main" id="{6A3171B8-B539-34F4-75C7-BC0670B088D4}"/>
              </a:ext>
            </a:extLst>
          </p:cNvPr>
          <p:cNvSpPr txBox="1"/>
          <p:nvPr/>
        </p:nvSpPr>
        <p:spPr>
          <a:xfrm>
            <a:off x="4772275" y="5203941"/>
            <a:ext cx="2341056" cy="339908"/>
          </a:xfrm>
          <a:prstGeom prst="rect">
            <a:avLst/>
          </a:prstGeom>
          <a:noFill/>
        </p:spPr>
        <p:txBody>
          <a:bodyPr wrap="square" lIns="0" tIns="0" rIns="0" bIns="0" rtlCol="0">
            <a:noAutofit/>
          </a:bodyPr>
          <a:lstStyle/>
          <a:p>
            <a:pPr>
              <a:lnSpc>
                <a:spcPct val="95000"/>
              </a:lnSpc>
              <a:spcBef>
                <a:spcPts val="1000"/>
              </a:spcBef>
              <a:buSzPct val="100000"/>
            </a:pPr>
            <a:r>
              <a:rPr lang="en-US" sz="1700" dirty="0">
                <a:latin typeface="Courier New" panose="02070309020205020404" pitchFamily="49" charset="0"/>
                <a:cs typeface="Courier New" panose="02070309020205020404" pitchFamily="49" charset="0"/>
              </a:rPr>
              <a:t>Base64 encoded</a:t>
            </a:r>
          </a:p>
        </p:txBody>
      </p:sp>
      <p:cxnSp>
        <p:nvCxnSpPr>
          <p:cNvPr id="14" name="Straight Arrow Connector 13">
            <a:extLst>
              <a:ext uri="{FF2B5EF4-FFF2-40B4-BE49-F238E27FC236}">
                <a16:creationId xmlns:a16="http://schemas.microsoft.com/office/drawing/2014/main" id="{8A183196-FCA7-75BC-CBE3-0253E633D2D3}"/>
              </a:ext>
            </a:extLst>
          </p:cNvPr>
          <p:cNvCxnSpPr>
            <a:cxnSpLocks/>
          </p:cNvCxnSpPr>
          <p:nvPr/>
        </p:nvCxnSpPr>
        <p:spPr>
          <a:xfrm flipV="1">
            <a:off x="6754273" y="3992720"/>
            <a:ext cx="153995" cy="1339685"/>
          </a:xfrm>
          <a:prstGeom prst="straightConnector1">
            <a:avLst/>
          </a:prstGeom>
          <a:ln w="12700" cap="flat">
            <a:miter/>
            <a:tailEnd type="triangle"/>
          </a:ln>
        </p:spPr>
        <p:style>
          <a:lnRef idx="1">
            <a:schemeClr val="accent1"/>
          </a:lnRef>
          <a:fillRef idx="0">
            <a:schemeClr val="accent1"/>
          </a:fillRef>
          <a:effectRef idx="0">
            <a:srgbClr val="000000"/>
          </a:effectRef>
          <a:fontRef idx="minor">
            <a:srgbClr val="FFFFFF"/>
          </a:fontRef>
        </p:style>
      </p:cxnSp>
    </p:spTree>
    <p:extLst>
      <p:ext uri="{BB962C8B-B14F-4D97-AF65-F5344CB8AC3E}">
        <p14:creationId xmlns:p14="http://schemas.microsoft.com/office/powerpoint/2010/main" val="40474098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AA1446-ADB3-2F38-B72B-4030E81056C2}"/>
              </a:ext>
            </a:extLst>
          </p:cNvPr>
          <p:cNvSpPr>
            <a:spLocks noGrp="1"/>
          </p:cNvSpPr>
          <p:nvPr>
            <p:ph type="title"/>
          </p:nvPr>
        </p:nvSpPr>
        <p:spPr/>
        <p:txBody>
          <a:bodyPr/>
          <a:lstStyle/>
          <a:p>
            <a:r>
              <a:rPr lang="en-US" dirty="0"/>
              <a:t>Key/Token Authentication</a:t>
            </a:r>
          </a:p>
        </p:txBody>
      </p:sp>
      <p:pic>
        <p:nvPicPr>
          <p:cNvPr id="6" name="Content Placeholder 5" descr="https://storage.googleapis.com/gweb-cloudblog-publish/images/2_REST_API_authentication.max-600x600.jpg">
            <a:extLst>
              <a:ext uri="{FF2B5EF4-FFF2-40B4-BE49-F238E27FC236}">
                <a16:creationId xmlns:a16="http://schemas.microsoft.com/office/drawing/2014/main" id="{F7E46912-BD70-B243-81D7-FBBB4A84C52A}"/>
              </a:ext>
            </a:extLst>
          </p:cNvPr>
          <p:cNvPicPr>
            <a:picLocks noGrp="1" noChangeAspect="1"/>
          </p:cNvPicPr>
          <p:nvPr>
            <p:ph idx="1"/>
          </p:nvPr>
        </p:nvPicPr>
        <p:blipFill>
          <a:blip r:embed="rId3"/>
          <a:srcRect t="17639"/>
          <a:stretch>
            <a:fillRect/>
          </a:stretch>
        </p:blipFill>
        <p:spPr>
          <a:xfrm>
            <a:off x="1789355" y="1505475"/>
            <a:ext cx="8910239" cy="4354235"/>
          </a:xfrm>
          <a:prstGeom prst="rect">
            <a:avLst/>
          </a:prstGeom>
        </p:spPr>
      </p:pic>
      <p:sp>
        <p:nvSpPr>
          <p:cNvPr id="4" name="Date Placeholder 3">
            <a:extLst>
              <a:ext uri="{FF2B5EF4-FFF2-40B4-BE49-F238E27FC236}">
                <a16:creationId xmlns:a16="http://schemas.microsoft.com/office/drawing/2014/main" id="{BDE9BF91-2812-2A4F-A013-2930309161C1}"/>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1DA38EAD-0C32-AB1B-3764-BBA95303CBC4}"/>
              </a:ext>
            </a:extLst>
          </p:cNvPr>
          <p:cNvSpPr>
            <a:spLocks noGrp="1"/>
          </p:cNvSpPr>
          <p:nvPr>
            <p:ph type="sldNum" sz="quarter" idx="11"/>
          </p:nvPr>
        </p:nvSpPr>
        <p:spPr/>
        <p:txBody>
          <a:bodyPr/>
          <a:lstStyle/>
          <a:p>
            <a:fld id="{64E5BE4B-2FBF-4174-9E62-85FAD1CB43A6}" type="slidenum">
              <a:rPr lang="en-US" smtClean="0"/>
              <a:pPr/>
              <a:t>18</a:t>
            </a:fld>
            <a:endParaRPr lang="en-US"/>
          </a:p>
        </p:txBody>
      </p:sp>
    </p:spTree>
    <p:extLst>
      <p:ext uri="{BB962C8B-B14F-4D97-AF65-F5344CB8AC3E}">
        <p14:creationId xmlns:p14="http://schemas.microsoft.com/office/powerpoint/2010/main" val="30624221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099FD1-804C-6A0E-D8D3-593A8FFE3A2D}"/>
              </a:ext>
            </a:extLst>
          </p:cNvPr>
          <p:cNvSpPr>
            <a:spLocks noGrp="1"/>
          </p:cNvSpPr>
          <p:nvPr>
            <p:ph type="title"/>
          </p:nvPr>
        </p:nvSpPr>
        <p:spPr/>
        <p:txBody>
          <a:bodyPr/>
          <a:lstStyle/>
          <a:p>
            <a:r>
              <a:rPr lang="en-US" dirty="0"/>
              <a:t>Session Cookies</a:t>
            </a:r>
          </a:p>
        </p:txBody>
      </p:sp>
      <p:pic>
        <p:nvPicPr>
          <p:cNvPr id="6" name="Content Placeholder 5" descr="Mastering Modern Authentication: Cookies, Sessions, JWT, and PASETO">
            <a:extLst>
              <a:ext uri="{FF2B5EF4-FFF2-40B4-BE49-F238E27FC236}">
                <a16:creationId xmlns:a16="http://schemas.microsoft.com/office/drawing/2014/main" id="{D1F12538-1EA7-C8BA-73C7-008D873697AC}"/>
              </a:ext>
            </a:extLst>
          </p:cNvPr>
          <p:cNvPicPr>
            <a:picLocks noGrp="1" noChangeAspect="1"/>
          </p:cNvPicPr>
          <p:nvPr>
            <p:ph idx="1"/>
          </p:nvPr>
        </p:nvPicPr>
        <p:blipFill>
          <a:blip r:embed="rId3"/>
          <a:stretch>
            <a:fillRect/>
          </a:stretch>
        </p:blipFill>
        <p:spPr>
          <a:xfrm>
            <a:off x="2337265" y="1379150"/>
            <a:ext cx="7358720" cy="4828190"/>
          </a:xfrm>
          <a:prstGeom prst="rect">
            <a:avLst/>
          </a:prstGeom>
        </p:spPr>
      </p:pic>
      <p:sp>
        <p:nvSpPr>
          <p:cNvPr id="4" name="Date Placeholder 3">
            <a:extLst>
              <a:ext uri="{FF2B5EF4-FFF2-40B4-BE49-F238E27FC236}">
                <a16:creationId xmlns:a16="http://schemas.microsoft.com/office/drawing/2014/main" id="{3C69615D-C4A4-B60F-7BC5-2C56EA3DF0DF}"/>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87FD5202-6560-6919-5B0C-2C5C7D002792}"/>
              </a:ext>
            </a:extLst>
          </p:cNvPr>
          <p:cNvSpPr>
            <a:spLocks noGrp="1"/>
          </p:cNvSpPr>
          <p:nvPr>
            <p:ph type="sldNum" sz="quarter" idx="11"/>
          </p:nvPr>
        </p:nvSpPr>
        <p:spPr/>
        <p:txBody>
          <a:bodyPr/>
          <a:lstStyle/>
          <a:p>
            <a:fld id="{64E5BE4B-2FBF-4174-9E62-85FAD1CB43A6}" type="slidenum">
              <a:rPr lang="en-US" smtClean="0"/>
              <a:pPr/>
              <a:t>19</a:t>
            </a:fld>
            <a:endParaRPr lang="en-US"/>
          </a:p>
        </p:txBody>
      </p:sp>
    </p:spTree>
    <p:extLst>
      <p:ext uri="{BB962C8B-B14F-4D97-AF65-F5344CB8AC3E}">
        <p14:creationId xmlns:p14="http://schemas.microsoft.com/office/powerpoint/2010/main" val="13654117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5A1E55-6DB6-9C27-E006-65A7F8B45FD1}"/>
              </a:ext>
            </a:extLst>
          </p:cNvPr>
          <p:cNvSpPr>
            <a:spLocks noGrp="1"/>
          </p:cNvSpPr>
          <p:nvPr>
            <p:ph type="title"/>
          </p:nvPr>
        </p:nvSpPr>
        <p:spPr/>
        <p:txBody>
          <a:bodyPr/>
          <a:lstStyle/>
          <a:p>
            <a:r>
              <a:rPr lang="en-US" dirty="0"/>
              <a:t>OAUTH</a:t>
            </a:r>
          </a:p>
        </p:txBody>
      </p:sp>
      <p:sp>
        <p:nvSpPr>
          <p:cNvPr id="4" name="Date Placeholder 3">
            <a:extLst>
              <a:ext uri="{FF2B5EF4-FFF2-40B4-BE49-F238E27FC236}">
                <a16:creationId xmlns:a16="http://schemas.microsoft.com/office/drawing/2014/main" id="{6D422CD3-B82C-4C99-18CA-0A04C99FAB2C}"/>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55EC3B39-E1C7-7D98-4286-8457DBC26678}"/>
              </a:ext>
            </a:extLst>
          </p:cNvPr>
          <p:cNvSpPr>
            <a:spLocks noGrp="1"/>
          </p:cNvSpPr>
          <p:nvPr>
            <p:ph type="sldNum" sz="quarter" idx="11"/>
          </p:nvPr>
        </p:nvSpPr>
        <p:spPr/>
        <p:txBody>
          <a:bodyPr/>
          <a:lstStyle/>
          <a:p>
            <a:fld id="{64E5BE4B-2FBF-4174-9E62-85FAD1CB43A6}" type="slidenum">
              <a:rPr lang="en-US" smtClean="0"/>
              <a:pPr/>
              <a:t>20</a:t>
            </a:fld>
            <a:endParaRPr lang="en-US"/>
          </a:p>
        </p:txBody>
      </p:sp>
      <p:pic>
        <p:nvPicPr>
          <p:cNvPr id="9" name="Content Placeholder 8" descr="A .NET Developer's Complete Guide to Choose Right Authentication: From ...">
            <a:extLst>
              <a:ext uri="{FF2B5EF4-FFF2-40B4-BE49-F238E27FC236}">
                <a16:creationId xmlns:a16="http://schemas.microsoft.com/office/drawing/2014/main" id="{B6CC2724-4C1C-1C34-B772-14618D6BE1E0}"/>
              </a:ext>
            </a:extLst>
          </p:cNvPr>
          <p:cNvPicPr>
            <a:picLocks noGrp="1" noChangeAspect="1"/>
          </p:cNvPicPr>
          <p:nvPr>
            <p:ph idx="1"/>
          </p:nvPr>
        </p:nvPicPr>
        <p:blipFill>
          <a:blip r:embed="rId3"/>
          <a:stretch>
            <a:fillRect/>
          </a:stretch>
        </p:blipFill>
        <p:spPr>
          <a:xfrm>
            <a:off x="1847216" y="1042463"/>
            <a:ext cx="8497568" cy="5665045"/>
          </a:xfrm>
          <a:prstGeom prst="rect">
            <a:avLst/>
          </a:prstGeom>
        </p:spPr>
      </p:pic>
    </p:spTree>
    <p:extLst>
      <p:ext uri="{BB962C8B-B14F-4D97-AF65-F5344CB8AC3E}">
        <p14:creationId xmlns:p14="http://schemas.microsoft.com/office/powerpoint/2010/main" val="31404103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3EABF-D295-BDCC-9EFB-883A8886466A}"/>
              </a:ext>
            </a:extLst>
          </p:cNvPr>
          <p:cNvSpPr>
            <a:spLocks noGrp="1"/>
          </p:cNvSpPr>
          <p:nvPr>
            <p:ph type="title"/>
          </p:nvPr>
        </p:nvSpPr>
        <p:spPr/>
        <p:txBody>
          <a:bodyPr/>
          <a:lstStyle/>
          <a:p>
            <a:r>
              <a:rPr lang="en-US" dirty="0"/>
              <a:t>In General…</a:t>
            </a:r>
          </a:p>
        </p:txBody>
      </p:sp>
      <p:sp>
        <p:nvSpPr>
          <p:cNvPr id="3" name="Content Placeholder 2">
            <a:extLst>
              <a:ext uri="{FF2B5EF4-FFF2-40B4-BE49-F238E27FC236}">
                <a16:creationId xmlns:a16="http://schemas.microsoft.com/office/drawing/2014/main" id="{A662615F-5293-3382-FE23-D26BD80FDC63}"/>
              </a:ext>
            </a:extLst>
          </p:cNvPr>
          <p:cNvSpPr>
            <a:spLocks noGrp="1"/>
          </p:cNvSpPr>
          <p:nvPr>
            <p:ph idx="1"/>
          </p:nvPr>
        </p:nvSpPr>
        <p:spPr/>
        <p:txBody>
          <a:bodyPr/>
          <a:lstStyle/>
          <a:p>
            <a:r>
              <a:rPr lang="en-US" dirty="0"/>
              <a:t>How long does the token live?</a:t>
            </a:r>
          </a:p>
          <a:p>
            <a:r>
              <a:rPr lang="en-US" dirty="0"/>
              <a:t>Who generates the token?</a:t>
            </a:r>
          </a:p>
          <a:p>
            <a:r>
              <a:rPr lang="en-US" dirty="0"/>
              <a:t>Who maintains (revokes) the token?</a:t>
            </a:r>
          </a:p>
          <a:p>
            <a:r>
              <a:rPr lang="en-US" dirty="0"/>
              <a:t>What resource is the token for?</a:t>
            </a:r>
          </a:p>
          <a:p>
            <a:r>
              <a:rPr lang="en-US" dirty="0"/>
              <a:t>Is the token stateless or stateful?</a:t>
            </a:r>
          </a:p>
        </p:txBody>
      </p:sp>
      <p:sp>
        <p:nvSpPr>
          <p:cNvPr id="4" name="Date Placeholder 3">
            <a:extLst>
              <a:ext uri="{FF2B5EF4-FFF2-40B4-BE49-F238E27FC236}">
                <a16:creationId xmlns:a16="http://schemas.microsoft.com/office/drawing/2014/main" id="{EC2B2493-A509-7F39-10EE-1F98483E5DE9}"/>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7AAEBBA9-84CB-B70E-1672-870FF72A108D}"/>
              </a:ext>
            </a:extLst>
          </p:cNvPr>
          <p:cNvSpPr>
            <a:spLocks noGrp="1"/>
          </p:cNvSpPr>
          <p:nvPr>
            <p:ph type="sldNum" sz="quarter" idx="11"/>
          </p:nvPr>
        </p:nvSpPr>
        <p:spPr/>
        <p:txBody>
          <a:bodyPr/>
          <a:lstStyle/>
          <a:p>
            <a:fld id="{64E5BE4B-2FBF-4174-9E62-85FAD1CB43A6}" type="slidenum">
              <a:rPr lang="en-US" smtClean="0"/>
              <a:pPr/>
              <a:t>21</a:t>
            </a:fld>
            <a:endParaRPr lang="en-US"/>
          </a:p>
        </p:txBody>
      </p:sp>
      <p:pic>
        <p:nvPicPr>
          <p:cNvPr id="6" name="Content Placeholder 5" descr="Beginner’s Guide to FastAPI &amp; OpenAI ChatGPT API Integration | by ...">
            <a:extLst>
              <a:ext uri="{FF2B5EF4-FFF2-40B4-BE49-F238E27FC236}">
                <a16:creationId xmlns:a16="http://schemas.microsoft.com/office/drawing/2014/main" id="{9803990C-3BA7-D8C5-74DD-F46522B36FB8}"/>
              </a:ext>
            </a:extLst>
          </p:cNvPr>
          <p:cNvPicPr>
            <a:picLocks noChangeAspect="1"/>
          </p:cNvPicPr>
          <p:nvPr/>
        </p:nvPicPr>
        <p:blipFill>
          <a:blip r:embed="rId3"/>
          <a:stretch>
            <a:fillRect/>
          </a:stretch>
        </p:blipFill>
        <p:spPr>
          <a:xfrm>
            <a:off x="6897756" y="122742"/>
            <a:ext cx="5086550" cy="6612515"/>
          </a:xfrm>
          <a:prstGeom prst="rect">
            <a:avLst/>
          </a:prstGeom>
        </p:spPr>
      </p:pic>
    </p:spTree>
    <p:extLst>
      <p:ext uri="{BB962C8B-B14F-4D97-AF65-F5344CB8AC3E}">
        <p14:creationId xmlns:p14="http://schemas.microsoft.com/office/powerpoint/2010/main" val="35536197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E84A7-2742-3603-EF96-6ACA2AA57784}"/>
            </a:ext>
          </a:extLst>
        </p:cNvPr>
        <p:cNvGrpSpPr/>
        <p:nvPr/>
      </p:nvGrpSpPr>
      <p:grpSpPr>
        <a:xfrm>
          <a:off x="0" y="0"/>
          <a:ext cx="0" cy="0"/>
          <a:chOff x="0" y="0"/>
          <a:chExt cx="0" cy="0"/>
        </a:xfrm>
      </p:grpSpPr>
      <p:sp>
        <p:nvSpPr>
          <p:cNvPr id="6" name="Title 5">
            <a:extLst>
              <a:ext uri="{FF2B5EF4-FFF2-40B4-BE49-F238E27FC236}">
                <a16:creationId xmlns:a16="http://schemas.microsoft.com/office/drawing/2014/main" id="{FB369682-AF26-693A-D06B-56E66281B0ED}"/>
              </a:ext>
            </a:extLst>
          </p:cNvPr>
          <p:cNvSpPr>
            <a:spLocks noGrp="1"/>
          </p:cNvSpPr>
          <p:nvPr>
            <p:ph type="title"/>
          </p:nvPr>
        </p:nvSpPr>
        <p:spPr/>
        <p:txBody>
          <a:bodyPr/>
          <a:lstStyle/>
          <a:p>
            <a:r>
              <a:rPr lang="en-US" dirty="0"/>
              <a:t>Hands-On #2</a:t>
            </a:r>
          </a:p>
        </p:txBody>
      </p:sp>
      <p:sp>
        <p:nvSpPr>
          <p:cNvPr id="7" name="Text Placeholder 6">
            <a:extLst>
              <a:ext uri="{FF2B5EF4-FFF2-40B4-BE49-F238E27FC236}">
                <a16:creationId xmlns:a16="http://schemas.microsoft.com/office/drawing/2014/main" id="{058BFFDB-ED2B-DE78-8D46-A4B7CCA291FF}"/>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6DBA612D-E650-2CDF-0E0D-68B80A16091B}"/>
              </a:ext>
            </a:extLst>
          </p:cNvPr>
          <p:cNvSpPr>
            <a:spLocks noGrp="1"/>
          </p:cNvSpPr>
          <p:nvPr>
            <p:ph type="dt" sz="half" idx="10"/>
          </p:nvPr>
        </p:nvSpPr>
        <p:spPr/>
        <p:txBody>
          <a:bodyPr/>
          <a:lstStyle/>
          <a:p>
            <a:fld id="{AD622D1A-DF83-41A8-85FF-04D90BF831D3}" type="datetime3">
              <a:rPr lang="en-US" smtClean="0"/>
              <a:t>23 June 2026</a:t>
            </a:fld>
            <a:endParaRPr lang="en-US"/>
          </a:p>
        </p:txBody>
      </p:sp>
      <p:sp>
        <p:nvSpPr>
          <p:cNvPr id="5" name="Slide Number Placeholder 4">
            <a:extLst>
              <a:ext uri="{FF2B5EF4-FFF2-40B4-BE49-F238E27FC236}">
                <a16:creationId xmlns:a16="http://schemas.microsoft.com/office/drawing/2014/main" id="{31B5D87B-1F0B-4A03-F65E-DE12B209DB7E}"/>
              </a:ext>
            </a:extLst>
          </p:cNvPr>
          <p:cNvSpPr>
            <a:spLocks noGrp="1"/>
          </p:cNvSpPr>
          <p:nvPr>
            <p:ph type="sldNum" sz="quarter" idx="12"/>
          </p:nvPr>
        </p:nvSpPr>
        <p:spPr/>
        <p:txBody>
          <a:bodyPr/>
          <a:lstStyle/>
          <a:p>
            <a:fld id="{64E5BE4B-2FBF-4174-9E62-85FAD1CB43A6}" type="slidenum">
              <a:rPr lang="en-US" smtClean="0"/>
              <a:pPr/>
              <a:t>22</a:t>
            </a:fld>
            <a:endParaRPr lang="en-US"/>
          </a:p>
        </p:txBody>
      </p:sp>
    </p:spTree>
    <p:extLst>
      <p:ext uri="{BB962C8B-B14F-4D97-AF65-F5344CB8AC3E}">
        <p14:creationId xmlns:p14="http://schemas.microsoft.com/office/powerpoint/2010/main" val="42759239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4CC769-791B-48CC-8DD8-3E436EE0B1A3}"/>
              </a:ext>
            </a:extLst>
          </p:cNvPr>
          <p:cNvSpPr>
            <a:spLocks noGrp="1"/>
          </p:cNvSpPr>
          <p:nvPr>
            <p:ph type="title"/>
          </p:nvPr>
        </p:nvSpPr>
        <p:spPr>
          <a:xfrm>
            <a:off x="831850" y="1709738"/>
            <a:ext cx="10515600" cy="2852737"/>
          </a:xfrm>
        </p:spPr>
        <p:txBody>
          <a:bodyPr/>
          <a:lstStyle/>
          <a:p>
            <a:r>
              <a:rPr lang="en-US" dirty="0"/>
              <a:t>Questions</a:t>
            </a:r>
          </a:p>
        </p:txBody>
      </p:sp>
      <p:sp>
        <p:nvSpPr>
          <p:cNvPr id="3" name="Text Placeholder 2">
            <a:extLst>
              <a:ext uri="{FF2B5EF4-FFF2-40B4-BE49-F238E27FC236}">
                <a16:creationId xmlns:a16="http://schemas.microsoft.com/office/drawing/2014/main" id="{3F777F8E-CCD2-E251-54C3-3AC716544F3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76679044"/>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322</TotalTime>
  <Words>1034</Words>
  <Application>Microsoft Office PowerPoint</Application>
  <PresentationFormat>Widescreen</PresentationFormat>
  <Paragraphs>244</Paragraphs>
  <Slides>23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Arial</vt:lpstr>
      <vt:lpstr>Arial Bold</vt:lpstr>
      <vt:lpstr>Courier New</vt:lpstr>
      <vt:lpstr>Play</vt:lpstr>
      <vt:lpstr>Wingdings</vt:lpstr>
      <vt:lpstr>US Army 2023 AFC DEVCOM Logo</vt:lpstr>
      <vt:lpstr>HTTP and APIs</vt:lpstr>
      <vt:lpstr>HyperText Transfer Protocol</vt:lpstr>
      <vt:lpstr>The HTTP Protocol: Rules</vt:lpstr>
      <vt:lpstr>Examples</vt:lpstr>
      <vt:lpstr>Methods and Codes</vt:lpstr>
      <vt:lpstr>HTTP Tools</vt:lpstr>
      <vt:lpstr>In python</vt:lpstr>
      <vt:lpstr>More Than Text</vt:lpstr>
      <vt:lpstr>Encoding Text</vt:lpstr>
      <vt:lpstr>Base64 Encoding</vt:lpstr>
      <vt:lpstr>Python Base64</vt:lpstr>
      <vt:lpstr>Hands-On #1</vt:lpstr>
      <vt:lpstr>API Terms</vt:lpstr>
      <vt:lpstr>Reading API Docs</vt:lpstr>
      <vt:lpstr>Reading API Docs</vt:lpstr>
      <vt:lpstr>Authentication</vt:lpstr>
      <vt:lpstr>Basic Authentication</vt:lpstr>
      <vt:lpstr>Key/Token Authentication</vt:lpstr>
      <vt:lpstr>Session Cookies</vt:lpstr>
      <vt:lpstr>OAUTH</vt:lpstr>
      <vt:lpstr>In General…</vt:lpstr>
      <vt:lpstr>Hands-On #2</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Ethan Shafer</cp:lastModifiedBy>
  <cp:revision>236</cp:revision>
  <dcterms:created xsi:type="dcterms:W3CDTF">2025-09-17T14:29:17Z</dcterms:created>
  <dcterms:modified xsi:type="dcterms:W3CDTF">2026-06-23T21:07:55Z</dcterms:modified>
</cp:coreProperties>
</file>